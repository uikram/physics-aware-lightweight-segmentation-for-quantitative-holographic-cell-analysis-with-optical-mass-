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4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A02C"/>
    <a:srgbClr val="D62728"/>
    <a:srgbClr val="FF7F0E"/>
    <a:srgbClr val="1F77B4"/>
    <a:srgbClr val="004B94"/>
    <a:srgbClr val="2081BD"/>
    <a:srgbClr val="F0F8FE"/>
    <a:srgbClr val="E8F4FE"/>
    <a:srgbClr val="004182"/>
    <a:srgbClr val="397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4" autoAdjust="0"/>
    <p:restoredTop sz="94660"/>
  </p:normalViewPr>
  <p:slideViewPr>
    <p:cSldViewPr snapToGrid="0">
      <p:cViewPr>
        <p:scale>
          <a:sx n="75" d="100"/>
          <a:sy n="75" d="100"/>
        </p:scale>
        <p:origin x="136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1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66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1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66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136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71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79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179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14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85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06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33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1.wdp"/><Relationship Id="rId18" Type="http://schemas.microsoft.com/office/2007/relationships/hdphoto" Target="../media/hdphoto2.wdp"/><Relationship Id="rId26" Type="http://schemas.openxmlformats.org/officeDocument/2006/relationships/image" Target="../media/image23.png"/><Relationship Id="rId3" Type="http://schemas.openxmlformats.org/officeDocument/2006/relationships/image" Target="../media/image2.png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5.png"/><Relationship Id="rId25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31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Figure"/>
          <p:cNvGrpSpPr/>
          <p:nvPr/>
        </p:nvGrpSpPr>
        <p:grpSpPr>
          <a:xfrm>
            <a:off x="95760" y="243650"/>
            <a:ext cx="11948866" cy="6435758"/>
            <a:chOff x="95760" y="243650"/>
            <a:chExt cx="11948866" cy="6435758"/>
          </a:xfrm>
        </p:grpSpPr>
        <p:sp>
          <p:nvSpPr>
            <p:cNvPr id="1061" name="Figure backing"/>
            <p:cNvSpPr/>
            <p:nvPr/>
          </p:nvSpPr>
          <p:spPr>
            <a:xfrm>
              <a:off x="95760" y="243650"/>
              <a:ext cx="11948866" cy="64357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A25BD1D9-F8DE-5427-5669-FD1BB9C3C098}"/>
                </a:ext>
              </a:extLst>
            </p:cNvPr>
            <p:cNvGrpSpPr/>
            <p:nvPr/>
          </p:nvGrpSpPr>
          <p:grpSpPr>
            <a:xfrm>
              <a:off x="141480" y="257399"/>
              <a:ext cx="11955893" cy="6408261"/>
              <a:chOff x="141480" y="257399"/>
              <a:chExt cx="11955893" cy="6408261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A7194EEE-141D-716C-81D9-9EDDD9F9A1EF}"/>
                  </a:ext>
                </a:extLst>
              </p:cNvPr>
              <p:cNvGrpSpPr/>
              <p:nvPr/>
            </p:nvGrpSpPr>
            <p:grpSpPr>
              <a:xfrm>
                <a:off x="141480" y="289370"/>
                <a:ext cx="11955893" cy="6344318"/>
                <a:chOff x="164759" y="276206"/>
                <a:chExt cx="11955893" cy="6344318"/>
              </a:xfrm>
            </p:grpSpPr>
            <p:sp>
              <p:nvSpPr>
                <p:cNvPr id="7" name="Rounded Rectangle 6"/>
                <p:cNvSpPr/>
                <p:nvPr/>
              </p:nvSpPr>
              <p:spPr>
                <a:xfrm>
                  <a:off x="2168185" y="665181"/>
                  <a:ext cx="2696511" cy="5598225"/>
                </a:xfrm>
                <a:prstGeom prst="roundRect">
                  <a:avLst>
                    <a:gd name="adj" fmla="val 3949"/>
                  </a:avLst>
                </a:prstGeom>
                <a:solidFill>
                  <a:srgbClr val="A1E5FD">
                    <a:alpha val="9804"/>
                  </a:srgbClr>
                </a:solidFill>
                <a:ln w="15875">
                  <a:solidFill>
                    <a:srgbClr val="009BC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30" name="Rounded Rectangle 29"/>
                <p:cNvSpPr/>
                <p:nvPr/>
              </p:nvSpPr>
              <p:spPr>
                <a:xfrm>
                  <a:off x="2291960" y="3194118"/>
                  <a:ext cx="2448961" cy="2904699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bg1"/>
                </a:solidFill>
                <a:ln w="15875">
                  <a:solidFill>
                    <a:srgbClr val="039AC3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50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>
                  <a:off x="9603943" y="4457943"/>
                  <a:ext cx="211343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solidFill>
                  <a:srgbClr val="004B94"/>
                </a:soli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9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>
                  <a:off x="4864355" y="2039348"/>
                  <a:ext cx="211343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solidFill>
                  <a:srgbClr val="029BC2"/>
                </a:soli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" name="Rounded Rectangle 9"/>
                <p:cNvSpPr/>
                <p:nvPr/>
              </p:nvSpPr>
              <p:spPr>
                <a:xfrm>
                  <a:off x="5076686" y="665181"/>
                  <a:ext cx="2166050" cy="5598225"/>
                </a:xfrm>
                <a:prstGeom prst="roundRect">
                  <a:avLst>
                    <a:gd name="adj" fmla="val 5889"/>
                  </a:avLst>
                </a:prstGeom>
                <a:solidFill>
                  <a:srgbClr val="D8DEF0">
                    <a:alpha val="20000"/>
                  </a:srgbClr>
                </a:solidFill>
                <a:ln w="15875">
                  <a:solidFill>
                    <a:srgbClr val="2081B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175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 rot="5400000">
                  <a:off x="6019456" y="2980058"/>
                  <a:ext cx="289350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gradFill flip="none" rotWithShape="1">
                  <a:gsLst>
                    <a:gs pos="0">
                      <a:srgbClr val="516DB3">
                        <a:alpha val="0"/>
                      </a:srgbClr>
                    </a:gs>
                    <a:gs pos="100000">
                      <a:srgbClr val="516DB3"/>
                    </a:gs>
                  </a:gsLst>
                  <a:lin ang="0" scaled="1"/>
                  <a:tileRect/>
                </a:gra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>
                <a:xfrm>
                  <a:off x="9829590" y="665181"/>
                  <a:ext cx="2192595" cy="5598225"/>
                </a:xfrm>
                <a:prstGeom prst="roundRect">
                  <a:avLst>
                    <a:gd name="adj" fmla="val 4980"/>
                  </a:avLst>
                </a:prstGeom>
                <a:solidFill>
                  <a:srgbClr val="E7EDF9">
                    <a:alpha val="20000"/>
                  </a:srgbClr>
                </a:solidFill>
                <a:ln w="15875">
                  <a:solidFill>
                    <a:srgbClr val="071773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173" name="Rounded Rectangle 24"/>
                <p:cNvSpPr/>
                <p:nvPr/>
              </p:nvSpPr>
              <p:spPr>
                <a:xfrm>
                  <a:off x="9946955" y="1162496"/>
                  <a:ext cx="1937067" cy="4936319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10005821" y="1239545"/>
                  <a:ext cx="1839768" cy="401004"/>
                </a:xfrm>
                <a:prstGeom prst="roundRect">
                  <a:avLst>
                    <a:gd name="adj" fmla="val 18141"/>
                  </a:avLst>
                </a:prstGeom>
                <a:solidFill>
                  <a:srgbClr val="08275F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Phase-integrated</a:t>
                  </a:r>
                </a:p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optical volume</a:t>
                  </a: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>
                <a:xfrm>
                  <a:off x="7454725" y="665181"/>
                  <a:ext cx="2166050" cy="5598225"/>
                </a:xfrm>
                <a:prstGeom prst="roundRect">
                  <a:avLst>
                    <a:gd name="adj" fmla="val 5186"/>
                  </a:avLst>
                </a:prstGeom>
                <a:solidFill>
                  <a:srgbClr val="F0F8FE"/>
                </a:solidFill>
                <a:ln w="15875">
                  <a:solidFill>
                    <a:srgbClr val="004B9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171" name="Rounded Rectangle 24"/>
                <p:cNvSpPr/>
                <p:nvPr/>
              </p:nvSpPr>
              <p:spPr>
                <a:xfrm>
                  <a:off x="7565300" y="1162496"/>
                  <a:ext cx="1937067" cy="4936319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72" name="TextBox 171"/>
                <p:cNvSpPr txBox="1"/>
                <p:nvPr/>
              </p:nvSpPr>
              <p:spPr>
                <a:xfrm>
                  <a:off x="7639406" y="1239545"/>
                  <a:ext cx="1795699" cy="401004"/>
                </a:xfrm>
                <a:prstGeom prst="roundRect">
                  <a:avLst>
                    <a:gd name="adj" fmla="val 18141"/>
                  </a:avLst>
                </a:prstGeom>
                <a:solidFill>
                  <a:srgbClr val="004B94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Physics-Aware Phase</a:t>
                  </a:r>
                </a:p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Consistency Loss</a:t>
                  </a:r>
                </a:p>
              </p:txBody>
            </p:sp>
            <p:sp>
              <p:nvSpPr>
                <p:cNvPr id="4" name="Rounded Rectangle 3"/>
                <p:cNvSpPr/>
                <p:nvPr/>
              </p:nvSpPr>
              <p:spPr>
                <a:xfrm>
                  <a:off x="164759" y="665183"/>
                  <a:ext cx="1791680" cy="5598224"/>
                </a:xfrm>
                <a:prstGeom prst="roundRect">
                  <a:avLst>
                    <a:gd name="adj" fmla="val 5874"/>
                  </a:avLst>
                </a:prstGeom>
                <a:solidFill>
                  <a:schemeClr val="bg1">
                    <a:lumMod val="95000"/>
                    <a:alpha val="24000"/>
                  </a:schemeClr>
                </a:solidFill>
                <a:ln w="15875">
                  <a:solidFill>
                    <a:srgbClr val="7B7B7B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112" name="모서리가 둥근 직사각형 111"/>
                <p:cNvSpPr/>
                <p:nvPr/>
              </p:nvSpPr>
              <p:spPr>
                <a:xfrm>
                  <a:off x="269875" y="1156898"/>
                  <a:ext cx="1587103" cy="1914519"/>
                </a:xfrm>
                <a:prstGeom prst="roundRect">
                  <a:avLst>
                    <a:gd name="adj" fmla="val 4664"/>
                  </a:avLst>
                </a:prstGeom>
                <a:solidFill>
                  <a:schemeClr val="bg1"/>
                </a:solidFill>
                <a:ln w="15875">
                  <a:solidFill>
                    <a:srgbClr val="68636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Rounded Rectangle 4"/>
                <p:cNvSpPr/>
                <p:nvPr/>
              </p:nvSpPr>
              <p:spPr>
                <a:xfrm>
                  <a:off x="164760" y="665182"/>
                  <a:ext cx="1796099" cy="371323"/>
                </a:xfrm>
                <a:prstGeom prst="round2SameRect">
                  <a:avLst>
                    <a:gd name="adj1" fmla="val 24875"/>
                    <a:gd name="adj2" fmla="val 0"/>
                  </a:avLst>
                </a:prstGeom>
                <a:gradFill flip="none" rotWithShape="1">
                  <a:gsLst>
                    <a:gs pos="72000">
                      <a:schemeClr val="bg1">
                        <a:lumMod val="50000"/>
                      </a:schemeClr>
                    </a:gs>
                    <a:gs pos="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" name="TextBox 2"/>
                <p:cNvSpPr txBox="1"/>
                <p:nvPr/>
              </p:nvSpPr>
              <p:spPr>
                <a:xfrm>
                  <a:off x="197077" y="741921"/>
                  <a:ext cx="1723999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1. QPI preprocessing</a:t>
                  </a:r>
                </a:p>
              </p:txBody>
            </p:sp>
            <p:sp>
              <p:nvSpPr>
                <p:cNvPr id="5" name="Rounded Rectangle 4"/>
                <p:cNvSpPr/>
                <p:nvPr/>
              </p:nvSpPr>
              <p:spPr>
                <a:xfrm>
                  <a:off x="2168185" y="665182"/>
                  <a:ext cx="2696511" cy="371323"/>
                </a:xfrm>
                <a:prstGeom prst="round2SameRect">
                  <a:avLst>
                    <a:gd name="adj1" fmla="val 26927"/>
                    <a:gd name="adj2" fmla="val 0"/>
                  </a:avLst>
                </a:prstGeom>
                <a:gradFill flip="none" rotWithShape="1">
                  <a:gsLst>
                    <a:gs pos="100000">
                      <a:srgbClr val="009BC0"/>
                    </a:gs>
                    <a:gs pos="0">
                      <a:srgbClr val="0594C7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2168185" y="741921"/>
                  <a:ext cx="269651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2. Frozen encoder + LoRA</a:t>
                  </a:r>
                </a:p>
              </p:txBody>
            </p:sp>
            <p:sp>
              <p:nvSpPr>
                <p:cNvPr id="8" name="Rounded Rectangle 7"/>
                <p:cNvSpPr/>
                <p:nvPr/>
              </p:nvSpPr>
              <p:spPr>
                <a:xfrm>
                  <a:off x="5076686" y="665182"/>
                  <a:ext cx="2166050" cy="371324"/>
                </a:xfrm>
                <a:prstGeom prst="round2SameRect">
                  <a:avLst>
                    <a:gd name="adj1" fmla="val 33084"/>
                    <a:gd name="adj2" fmla="val 0"/>
                  </a:avLst>
                </a:prstGeom>
                <a:gradFill flip="none" rotWithShape="1">
                  <a:gsLst>
                    <a:gs pos="0">
                      <a:srgbClr val="3C688F"/>
                    </a:gs>
                    <a:gs pos="100000">
                      <a:srgbClr val="2081BD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5076686" y="741921"/>
                  <a:ext cx="216605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3. Trainable decoder</a:t>
                  </a:r>
                </a:p>
              </p:txBody>
            </p:sp>
            <p:sp>
              <p:nvSpPr>
                <p:cNvPr id="11" name="Rounded Rectangle 10"/>
                <p:cNvSpPr/>
                <p:nvPr/>
              </p:nvSpPr>
              <p:spPr>
                <a:xfrm>
                  <a:off x="7454725" y="665182"/>
                  <a:ext cx="2166050" cy="371323"/>
                </a:xfrm>
                <a:prstGeom prst="round2SameRect">
                  <a:avLst>
                    <a:gd name="adj1" fmla="val 31032"/>
                    <a:gd name="adj2" fmla="val 0"/>
                  </a:avLst>
                </a:prstGeom>
                <a:gradFill flip="none" rotWithShape="1">
                  <a:gsLst>
                    <a:gs pos="100000">
                      <a:srgbClr val="004B94"/>
                    </a:gs>
                    <a:gs pos="0">
                      <a:srgbClr val="00418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7454725" y="743122"/>
                  <a:ext cx="216605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4. Physics-aware loss</a:t>
                  </a:r>
                </a:p>
              </p:txBody>
            </p:sp>
            <p:sp>
              <p:nvSpPr>
                <p:cNvPr id="14" name="Rounded Rectangle 13"/>
                <p:cNvSpPr/>
                <p:nvPr/>
              </p:nvSpPr>
              <p:spPr>
                <a:xfrm>
                  <a:off x="9829590" y="665182"/>
                  <a:ext cx="2192595" cy="371323"/>
                </a:xfrm>
                <a:prstGeom prst="round2SameRect">
                  <a:avLst>
                    <a:gd name="adj1" fmla="val 29492"/>
                    <a:gd name="adj2" fmla="val 0"/>
                  </a:avLst>
                </a:prstGeom>
                <a:gradFill flip="none" rotWithShape="1">
                  <a:gsLst>
                    <a:gs pos="19000">
                      <a:srgbClr val="082C58"/>
                    </a:gs>
                    <a:gs pos="100000">
                      <a:srgbClr val="071477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9829590" y="743122"/>
                  <a:ext cx="2192595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5. Quantitative readout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/>
                    <p:cNvSpPr txBox="1"/>
                    <p:nvPr/>
                  </p:nvSpPr>
                  <p:spPr>
                    <a:xfrm>
                      <a:off x="334701" y="1239545"/>
                      <a:ext cx="1487160" cy="18418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636363"/>
                    </a:solidFill>
                  </p:spPr>
                  <p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/>
                        </a:rPr>
                        <a:t>Reconstructed phase</a:t>
                      </a:r>
                      <a:r>
                        <a:rPr lang="en-US" sz="1050" b="1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ko-KR" altLang="en-US" sz="1050" b="1" i="1" spc="-10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oMath>
                      </a14:m>
                      <a:endParaRPr sz="1050" b="1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01" y="1239545"/>
                      <a:ext cx="1487160" cy="184181"/>
                    </a:xfrm>
                    <a:prstGeom prst="roundRect">
                      <a:avLst>
                        <a:gd name="adj" fmla="val 50000"/>
                      </a:avLst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TextBox 17"/>
                <p:cNvSpPr txBox="1"/>
                <p:nvPr/>
              </p:nvSpPr>
              <p:spPr>
                <a:xfrm>
                  <a:off x="269875" y="1471143"/>
                  <a:ext cx="1587104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(Single channel, radians)</a:t>
                  </a:r>
                </a:p>
              </p:txBody>
            </p:sp>
            <p:pic>
              <p:nvPicPr>
                <p:cNvPr id="19" name="Picture 18" descr="p1_phase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4701" y="1686069"/>
                  <a:ext cx="1443132" cy="1228866"/>
                </a:xfrm>
                <a:prstGeom prst="rect">
                  <a:avLst/>
                </a:prstGeom>
              </p:spPr>
            </p:pic>
            <p:sp>
              <p:nvSpPr>
                <p:cNvPr id="25" name="Rounded Rectangle 24"/>
                <p:cNvSpPr/>
                <p:nvPr/>
              </p:nvSpPr>
              <p:spPr>
                <a:xfrm>
                  <a:off x="2291960" y="1162497"/>
                  <a:ext cx="2448961" cy="1925616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2413770" y="1406458"/>
                  <a:ext cx="2696511" cy="10328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234900" indent="-171450">
                    <a:lnSpc>
                      <a:spcPct val="250000"/>
                    </a:lnSpc>
                    <a:buClr>
                      <a:srgbClr val="029BC2"/>
                    </a:buClr>
                    <a:buFont typeface="Wingdings" panose="05000000000000000000" pitchFamily="2" charset="2"/>
                    <a:buChar char="§"/>
                  </a:pP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EdgeSAM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 (</a:t>
                  </a: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RepViT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)</a:t>
                  </a:r>
                </a:p>
                <a:p>
                  <a:pPr marL="234900" indent="-171450">
                    <a:lnSpc>
                      <a:spcPct val="250000"/>
                    </a:lnSpc>
                    <a:buClr>
                      <a:srgbClr val="029BC2"/>
                    </a:buClr>
                    <a:buFont typeface="Wingdings" panose="05000000000000000000" pitchFamily="2" charset="2"/>
                    <a:buChar char="§"/>
                  </a:pP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MobileSAM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 (</a:t>
                  </a: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TinyViT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)</a:t>
                  </a:r>
                </a:p>
                <a:p>
                  <a:pPr marL="234900" indent="-171450">
                    <a:lnSpc>
                      <a:spcPct val="250000"/>
                    </a:lnSpc>
                    <a:buClr>
                      <a:srgbClr val="029BC2"/>
                    </a:buClr>
                    <a:buFont typeface="Wingdings" panose="05000000000000000000" pitchFamily="2" charset="2"/>
                    <a:buChar char="§"/>
                  </a:pP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MobileNet-UNet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 (MobileNetV2)</a:t>
                  </a: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2456598" y="2646871"/>
                  <a:ext cx="2696511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b="1" i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39AC4"/>
                      </a:solidFill>
                      <a:latin typeface="Arial"/>
                    </a:rPr>
                    <a:t>Pretrained</a:t>
                  </a:r>
                  <a:r>
                    <a:rPr lang="en-US" sz="900" b="1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39AC4"/>
                      </a:solidFill>
                      <a:latin typeface="Arial"/>
                    </a:rPr>
                    <a:t> weights held fixed</a:t>
                  </a: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2178239" y="3291052"/>
                  <a:ext cx="2696511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000" b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26B88"/>
                      </a:solidFill>
                      <a:latin typeface="Arial"/>
                    </a:rPr>
                    <a:t>LoRA</a:t>
                  </a:r>
                  <a:r>
                    <a:rPr sz="10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26B88"/>
                      </a:solidFill>
                      <a:latin typeface="Arial"/>
                    </a:rPr>
                    <a:t> adapters in encoder attention</a:t>
                  </a:r>
                </a:p>
                <a:p>
                  <a:pPr algn="ctr"/>
                  <a:r>
                    <a:rPr sz="10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26B88"/>
                      </a:solidFill>
                      <a:latin typeface="Arial"/>
                    </a:rPr>
                    <a:t>and convolutional bottleneck layers</a:t>
                  </a:r>
                </a:p>
              </p:txBody>
            </p:sp>
            <p:grpSp>
              <p:nvGrpSpPr>
                <p:cNvPr id="20" name="그룹 19"/>
                <p:cNvGrpSpPr/>
                <p:nvPr/>
              </p:nvGrpSpPr>
              <p:grpSpPr>
                <a:xfrm>
                  <a:off x="2425863" y="3673475"/>
                  <a:ext cx="2185449" cy="1723198"/>
                  <a:chOff x="2425863" y="3673476"/>
                  <a:chExt cx="2185449" cy="1365306"/>
                </a:xfrm>
              </p:grpSpPr>
              <p:sp>
                <p:nvSpPr>
                  <p:cNvPr id="1033" name="모서리가 둥근 직사각형 1032"/>
                  <p:cNvSpPr/>
                  <p:nvPr/>
                </p:nvSpPr>
                <p:spPr>
                  <a:xfrm>
                    <a:off x="2425863" y="3673476"/>
                    <a:ext cx="2185449" cy="1365306"/>
                  </a:xfrm>
                  <a:prstGeom prst="roundRect">
                    <a:avLst>
                      <a:gd name="adj" fmla="val 4276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2" name="Rectangle 31"/>
                  <p:cNvSpPr/>
                  <p:nvPr/>
                </p:nvSpPr>
                <p:spPr>
                  <a:xfrm>
                    <a:off x="2569282" y="3987917"/>
                    <a:ext cx="371323" cy="961716"/>
                  </a:xfrm>
                  <a:prstGeom prst="rect">
                    <a:avLst/>
                  </a:prstGeom>
                  <a:solidFill>
                    <a:srgbClr val="CAF3FE"/>
                  </a:solidFill>
                  <a:ln w="11430">
                    <a:solidFill>
                      <a:srgbClr val="5B87B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4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2465380" y="3828128"/>
                    <a:ext cx="583506" cy="11549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E7BC4"/>
                        </a:solidFill>
                        <a:latin typeface="Arial"/>
                      </a:rPr>
                      <a:t>Frozen W</a:t>
                    </a:r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958287" y="4353285"/>
                    <a:ext cx="229866" cy="23098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</a:rPr>
                      <a:t>+</a:t>
                    </a:r>
                  </a:p>
                </p:txBody>
              </p:sp>
              <p:sp>
                <p:nvSpPr>
                  <p:cNvPr id="35" name="Rectangle 34"/>
                  <p:cNvSpPr/>
                  <p:nvPr/>
                </p:nvSpPr>
                <p:spPr>
                  <a:xfrm>
                    <a:off x="3178201" y="4171897"/>
                    <a:ext cx="195246" cy="59375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1430">
                    <a:solidFill>
                      <a:schemeClr val="bg1">
                        <a:lumMod val="6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4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3183946" y="4383384"/>
                    <a:ext cx="183756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</a:rPr>
                      <a:t>B</a:t>
                    </a:r>
                  </a:p>
                </p:txBody>
              </p:sp>
              <p:sp>
                <p:nvSpPr>
                  <p:cNvPr id="38" name="Rectangle 37"/>
                  <p:cNvSpPr/>
                  <p:nvPr/>
                </p:nvSpPr>
                <p:spPr>
                  <a:xfrm>
                    <a:off x="3446400" y="4388643"/>
                    <a:ext cx="371323" cy="155397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1430">
                    <a:solidFill>
                      <a:schemeClr val="bg1">
                        <a:lumMod val="6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4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3446400" y="4403217"/>
                    <a:ext cx="371323" cy="12832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</a:rPr>
                      <a:t>A</a:t>
                    </a:r>
                  </a:p>
                </p:txBody>
              </p:sp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3842388" y="4353285"/>
                    <a:ext cx="229866" cy="23098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</a:rPr>
                      <a:t>=</a:t>
                    </a:r>
                  </a:p>
                </p:txBody>
              </p:sp>
              <p:sp>
                <p:nvSpPr>
                  <p:cNvPr id="42" name="Rectangle 41"/>
                  <p:cNvSpPr/>
                  <p:nvPr/>
                </p:nvSpPr>
                <p:spPr>
                  <a:xfrm>
                    <a:off x="4089938" y="3987917"/>
                    <a:ext cx="371323" cy="96171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1430">
                    <a:solidFill>
                      <a:srgbClr val="4E9A5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4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3870060" y="3830695"/>
                    <a:ext cx="726496" cy="11549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E6B3A"/>
                        </a:solidFill>
                        <a:latin typeface="Arial"/>
                      </a:rPr>
                      <a:t>Adapted W′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/>
                    <p:cNvSpPr txBox="1"/>
                    <p:nvPr/>
                  </p:nvSpPr>
                  <p:spPr>
                    <a:xfrm>
                      <a:off x="2209571" y="5505864"/>
                      <a:ext cx="2696511" cy="1692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W′ = W + (</a:t>
                      </a:r>
                      <a14:m>
                        <m:oMath xmlns:m="http://schemas.openxmlformats.org/officeDocument/2006/math"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oMath>
                      </a14:m>
                      <a:r>
                        <a:rPr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</a:rPr>
                        <a:t>) BA,  r = 8</a:t>
                      </a:r>
                    </a:p>
                  </p:txBody>
                </p:sp>
              </mc:Choice>
              <mc:Fallback xmlns="">
                <p:sp>
                  <p:nvSpPr>
                    <p:cNvPr id="44" name="TextBox 4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09571" y="5505864"/>
                      <a:ext cx="2696511" cy="1692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3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5" name="Rounded Rectangle 64"/>
                <p:cNvSpPr/>
                <p:nvPr/>
              </p:nvSpPr>
              <p:spPr>
                <a:xfrm>
                  <a:off x="7634429" y="1717762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/>
                    <p:cNvSpPr txBox="1"/>
                    <p:nvPr/>
                  </p:nvSpPr>
                  <p:spPr>
                    <a:xfrm>
                      <a:off x="6961140" y="1737318"/>
                      <a:ext cx="1789709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oMath>
                      </a14:m>
                      <a:r>
                        <a:rPr 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 Dice</a:t>
                      </a:r>
                    </a:p>
                  </p:txBody>
                </p:sp>
              </mc:Choice>
              <mc:Fallback xmlns="">
                <p:sp>
                  <p:nvSpPr>
                    <p:cNvPr id="66" name="TextBox 6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61140" y="1737318"/>
                      <a:ext cx="1789709" cy="18466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7" name="TextBox 66"/>
                <p:cNvSpPr txBox="1"/>
                <p:nvPr/>
              </p:nvSpPr>
              <p:spPr>
                <a:xfrm>
                  <a:off x="7467144" y="1960318"/>
                  <a:ext cx="2166050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10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Class-weighted overlap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7388204" y="2153248"/>
                  <a:ext cx="2166050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 algn="ctr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Geometric </a:t>
                  </a:r>
                  <a:r>
                    <a:rPr lang="en-US" sz="950" i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localisation</a:t>
                  </a:r>
                  <a:endParaRPr lang="en-US" sz="950" i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TextBox 81"/>
                    <p:cNvSpPr txBox="1"/>
                    <p:nvPr/>
                  </p:nvSpPr>
                  <p:spPr>
                    <a:xfrm>
                      <a:off x="7634428" y="5325367"/>
                      <a:ext cx="1800677" cy="664433"/>
                    </a:xfrm>
                    <a:prstGeom prst="roundRect">
                      <a:avLst>
                        <a:gd name="adj" fmla="val 11361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</p:spPr>
                  <p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ko-KR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Total = </a:t>
                      </a:r>
                      <a14:m>
                        <m:oMath xmlns:m="http://schemas.openxmlformats.org/officeDocument/2006/math">
                          <m:r>
                            <a:rPr lang="en-US" altLang="ko-KR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 Dice +</a:t>
                      </a:r>
                      <a14:m>
                        <m:oMath xmlns:m="http://schemas.openxmlformats.org/officeDocument/2006/math">
                          <m:r>
                            <a:rPr lang="en-US" altLang="ko-KR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ko-KR" altLang="en-US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₁</m:t>
                          </m:r>
                          <m:r>
                            <a:rPr lang="en-US" altLang="ko-KR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PMC</a:t>
                      </a:r>
                    </a:p>
                    <a:p>
                      <a:pPr algn="ctr"/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+ </a:t>
                      </a:r>
                      <a14:m>
                        <m:oMath xmlns:m="http://schemas.openxmlformats.org/officeDocument/2006/math"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₂</m:t>
                          </m:r>
                          <m:r>
                            <a:rPr lang="en-US" altLang="ko-KR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BGA + </a:t>
                      </a:r>
                      <a14:m>
                        <m:oMath xmlns:m="http://schemas.openxmlformats.org/officeDocument/2006/math"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₃</m:t>
                          </m:r>
                          <m:r>
                            <a:rPr lang="en-US" altLang="ko-KR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IPP</a:t>
                      </a:r>
                    </a:p>
                  </p:txBody>
                </p:sp>
              </mc:Choice>
              <mc:Fallback xmlns="">
                <p:sp>
                  <p:nvSpPr>
                    <p:cNvPr id="82" name="TextBox 8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34428" y="5325367"/>
                      <a:ext cx="1800677" cy="664433"/>
                    </a:xfrm>
                    <a:prstGeom prst="roundRect">
                      <a:avLst>
                        <a:gd name="adj" fmla="val 11361"/>
                      </a:avLst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84" name="Picture 83" descr="p4_volume.png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47284" y="1714288"/>
                  <a:ext cx="1756841" cy="1483046"/>
                </a:xfrm>
                <a:prstGeom prst="rect">
                  <a:avLst/>
                </a:prstGeom>
              </p:spPr>
            </p:pic>
            <p:sp>
              <p:nvSpPr>
                <p:cNvPr id="21" name="TextBox 20"/>
                <p:cNvSpPr txBox="1"/>
                <p:nvPr/>
              </p:nvSpPr>
              <p:spPr>
                <a:xfrm>
                  <a:off x="683332" y="3492112"/>
                  <a:ext cx="751487" cy="153233"/>
                </a:xfrm>
                <a:prstGeom prst="round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900" b="1" i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standardise</a:t>
                  </a:r>
                  <a:endParaRPr sz="900" b="1" i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</a:endParaRPr>
                </a:p>
              </p:txBody>
            </p:sp>
            <p:pic>
              <p:nvPicPr>
                <p:cNvPr id="116" name="그림 115"/>
                <p:cNvPicPr>
                  <a:picLocks noChangeAspect="1"/>
                </p:cNvPicPr>
                <p:nvPr/>
              </p:nvPicPr>
              <p:blipFill>
                <a:blip r:embed="rId8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8369" y="3144889"/>
                  <a:ext cx="361414" cy="364889"/>
                </a:xfrm>
                <a:prstGeom prst="rect">
                  <a:avLst/>
                </a:prstGeom>
              </p:spPr>
            </p:pic>
            <p:sp>
              <p:nvSpPr>
                <p:cNvPr id="118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 rot="5400000">
                  <a:off x="909522" y="3679195"/>
                  <a:ext cx="303270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gradFill flip="none" rotWithShape="1">
                  <a:gsLst>
                    <a:gs pos="0">
                      <a:schemeClr val="tx1">
                        <a:alpha val="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1"/>
                  <a:tileRect/>
                </a:gra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0" name="모서리가 둥근 직사각형 119"/>
                <p:cNvSpPr/>
                <p:nvPr/>
              </p:nvSpPr>
              <p:spPr>
                <a:xfrm>
                  <a:off x="269875" y="4090598"/>
                  <a:ext cx="1587103" cy="2020932"/>
                </a:xfrm>
                <a:prstGeom prst="roundRect">
                  <a:avLst>
                    <a:gd name="adj" fmla="val 4664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1" name="TextBox 120"/>
                    <p:cNvSpPr txBox="1"/>
                    <p:nvPr/>
                  </p:nvSpPr>
                  <p:spPr>
                    <a:xfrm>
                      <a:off x="334701" y="4174462"/>
                      <a:ext cx="1487160" cy="18418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636363"/>
                    </a:solidFill>
                  </p:spPr>
                  <p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lang="en-US" sz="1050" b="1" spc="-5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/>
                        </a:rPr>
                        <a:t>Normalised</a:t>
                      </a:r>
                      <a:r>
                        <a:rPr lang="en-US" sz="1050" b="1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/>
                        </a:rPr>
                        <a:t> input </a:t>
                      </a:r>
                      <a14:m>
                        <m:oMath xmlns:m="http://schemas.openxmlformats.org/officeDocument/2006/math">
                          <m:r>
                            <a:rPr lang="el-GR" sz="1050" b="1" spc="-5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oMath>
                      </a14:m>
                      <a:endParaRPr lang="el-GR" sz="1050" b="1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/>
                      </a:endParaRPr>
                    </a:p>
                  </p:txBody>
                </p:sp>
              </mc:Choice>
              <mc:Fallback xmlns="">
                <p:sp>
                  <p:nvSpPr>
                    <p:cNvPr id="121" name="TextBox 1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01" y="4174462"/>
                      <a:ext cx="1487160" cy="184181"/>
                    </a:xfrm>
                    <a:prstGeom prst="roundRect">
                      <a:avLst>
                        <a:gd name="adj" fmla="val 50000"/>
                      </a:avLst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2" name="TextBox 121"/>
                <p:cNvSpPr txBox="1"/>
                <p:nvPr/>
              </p:nvSpPr>
              <p:spPr>
                <a:xfrm>
                  <a:off x="180360" y="4415535"/>
                  <a:ext cx="172399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(Matched to RGB</a:t>
                  </a:r>
                </a:p>
                <a:p>
                  <a:pPr algn="ctr"/>
                  <a:r>
                    <a:rPr lang="en-US" sz="90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Pretraining</a:t>
                  </a:r>
                  <a:r>
                    <a:rPr 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 statistics)</a:t>
                  </a:r>
                </a:p>
              </p:txBody>
            </p:sp>
            <p:pic>
              <p:nvPicPr>
                <p:cNvPr id="24" name="Picture 23" descr="p2_norm.png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8482" y="4752671"/>
                  <a:ext cx="1462663" cy="1294490"/>
                </a:xfrm>
                <a:prstGeom prst="rect">
                  <a:avLst/>
                </a:prstGeom>
              </p:spPr>
            </p:pic>
            <p:pic>
              <p:nvPicPr>
                <p:cNvPr id="1025" name="그림 1024"/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13811" y="2294025"/>
                  <a:ext cx="891521" cy="900093"/>
                </a:xfrm>
                <a:prstGeom prst="rect">
                  <a:avLst/>
                </a:prstGeom>
              </p:spPr>
            </p:pic>
            <p:cxnSp>
              <p:nvCxnSpPr>
                <p:cNvPr id="1032" name="직선 연결선 1031"/>
                <p:cNvCxnSpPr/>
                <p:nvPr/>
              </p:nvCxnSpPr>
              <p:spPr>
                <a:xfrm>
                  <a:off x="2397264" y="1801191"/>
                  <a:ext cx="2228724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41" name="직선 연결선 140"/>
                <p:cNvCxnSpPr/>
                <p:nvPr/>
              </p:nvCxnSpPr>
              <p:spPr>
                <a:xfrm>
                  <a:off x="2397264" y="2150441"/>
                  <a:ext cx="2228724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42" name="직선 연결선 141"/>
                <p:cNvCxnSpPr/>
                <p:nvPr/>
              </p:nvCxnSpPr>
              <p:spPr>
                <a:xfrm>
                  <a:off x="2397264" y="2525091"/>
                  <a:ext cx="2228724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9" name="TextBox 28"/>
                <p:cNvSpPr txBox="1"/>
                <p:nvPr/>
              </p:nvSpPr>
              <p:spPr>
                <a:xfrm>
                  <a:off x="2998690" y="2836773"/>
                  <a:ext cx="592030" cy="11929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29AC3"/>
                </a:solidFill>
              </p:spPr>
              <p:txBody>
                <a:bodyPr wrap="none" lIns="0" tIns="0" rIns="0" bIns="36000" anchor="ctr">
                  <a:noAutofit/>
                </a:bodyPr>
                <a:lstStyle/>
                <a:p>
                  <a:pPr algn="ctr"/>
                  <a:endParaRPr sz="95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/>
                  </a:endParaRPr>
                </a:p>
              </p:txBody>
            </p:sp>
            <p:sp>
              <p:nvSpPr>
                <p:cNvPr id="143" name="TextBox 142"/>
                <p:cNvSpPr txBox="1"/>
                <p:nvPr/>
              </p:nvSpPr>
              <p:spPr>
                <a:xfrm>
                  <a:off x="2948095" y="2832795"/>
                  <a:ext cx="698749" cy="154575"/>
                </a:xfrm>
                <a:prstGeom prst="roundRect">
                  <a:avLst>
                    <a:gd name="adj" fmla="val 50000"/>
                  </a:avLst>
                </a:prstGeom>
                <a:noFill/>
              </p:spPr>
              <p:txBody>
                <a:bodyPr wrap="none" lIns="0" tIns="0" rIns="0" bIns="36000" anchor="ctr">
                  <a:noAutofit/>
                </a:bodyPr>
                <a:lstStyle/>
                <a:p>
                  <a:pPr algn="ctr"/>
                  <a:r>
                    <a:rPr lang="en-US" sz="8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  Frozen</a:t>
                  </a:r>
                </a:p>
              </p:txBody>
            </p:sp>
            <p:pic>
              <p:nvPicPr>
                <p:cNvPr id="1024" name="그림 1023"/>
                <p:cNvPicPr>
                  <a:picLocks noChangeAspect="1"/>
                </p:cNvPicPr>
                <p:nvPr/>
              </p:nvPicPr>
              <p:blipFill>
                <a:blip r:embed="rId12" cstate="print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08395" y="2806801"/>
                  <a:ext cx="163014" cy="164582"/>
                </a:xfrm>
                <a:prstGeom prst="rect">
                  <a:avLst/>
                </a:prstGeom>
              </p:spPr>
            </p:pic>
            <p:sp>
              <p:nvSpPr>
                <p:cNvPr id="144" name="TextBox 143"/>
                <p:cNvSpPr txBox="1"/>
                <p:nvPr/>
              </p:nvSpPr>
              <p:spPr>
                <a:xfrm>
                  <a:off x="2350825" y="1243766"/>
                  <a:ext cx="2325949" cy="18418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29BC2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 Frozen lightweight encoder</a:t>
                  </a:r>
                </a:p>
              </p:txBody>
            </p:sp>
            <p:sp>
              <p:nvSpPr>
                <p:cNvPr id="145" name="Rounded Rectangle 24"/>
                <p:cNvSpPr/>
                <p:nvPr/>
              </p:nvSpPr>
              <p:spPr>
                <a:xfrm>
                  <a:off x="5190197" y="1162497"/>
                  <a:ext cx="1937067" cy="1633932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6" name="TextBox 145"/>
                <p:cNvSpPr txBox="1"/>
                <p:nvPr/>
              </p:nvSpPr>
              <p:spPr>
                <a:xfrm>
                  <a:off x="5249063" y="1239545"/>
                  <a:ext cx="1839768" cy="18418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081BD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Fully trainable</a:t>
                  </a: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5134095" y="2822225"/>
                  <a:ext cx="216605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b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975A6"/>
                      </a:solidFill>
                      <a:latin typeface="Arial"/>
                    </a:rPr>
                    <a:t>T</a:t>
                  </a:r>
                  <a:r>
                    <a:rPr sz="900" b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975A6"/>
                      </a:solidFill>
                      <a:latin typeface="Arial"/>
                    </a:rPr>
                    <a:t>trainable</a:t>
                  </a:r>
                  <a:endParaRPr sz="9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975A6"/>
                    </a:solidFill>
                    <a:latin typeface="Arial"/>
                  </a:endParaRPr>
                </a:p>
              </p:txBody>
            </p:sp>
            <p:pic>
              <p:nvPicPr>
                <p:cNvPr id="149" name="그림 148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1479379"/>
                  <a:ext cx="205148" cy="207121"/>
                </a:xfrm>
                <a:prstGeom prst="rect">
                  <a:avLst/>
                </a:prstGeom>
              </p:spPr>
            </p:pic>
            <p:pic>
              <p:nvPicPr>
                <p:cNvPr id="150" name="그림 149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1733407"/>
                  <a:ext cx="205148" cy="207121"/>
                </a:xfrm>
                <a:prstGeom prst="rect">
                  <a:avLst/>
                </a:prstGeom>
              </p:spPr>
            </p:pic>
            <p:pic>
              <p:nvPicPr>
                <p:cNvPr id="152" name="그림 151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2001914"/>
                  <a:ext cx="205148" cy="207121"/>
                </a:xfrm>
                <a:prstGeom prst="rect">
                  <a:avLst/>
                </a:prstGeom>
              </p:spPr>
            </p:pic>
            <p:pic>
              <p:nvPicPr>
                <p:cNvPr id="153" name="그림 152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2273176"/>
                  <a:ext cx="205148" cy="207121"/>
                </a:xfrm>
                <a:prstGeom prst="rect">
                  <a:avLst/>
                </a:prstGeom>
              </p:spPr>
            </p:pic>
            <p:sp>
              <p:nvSpPr>
                <p:cNvPr id="1034" name="직사각형 1033"/>
                <p:cNvSpPr/>
                <p:nvPr/>
              </p:nvSpPr>
              <p:spPr>
                <a:xfrm>
                  <a:off x="5394962" y="1303250"/>
                  <a:ext cx="1184940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1-Channel stem </a:t>
                  </a:r>
                  <a:endParaRPr lang="ko-KR" altLang="en-US" sz="95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2081BD"/>
                    </a:solidFill>
                    <a:latin typeface="Arial"/>
                  </a:endParaRPr>
                </a:p>
              </p:txBody>
            </p:sp>
            <p:sp>
              <p:nvSpPr>
                <p:cNvPr id="155" name="직사각형 154"/>
                <p:cNvSpPr/>
                <p:nvPr/>
              </p:nvSpPr>
              <p:spPr>
                <a:xfrm>
                  <a:off x="5394962" y="1550928"/>
                  <a:ext cx="1058303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Normalisation</a:t>
                  </a:r>
                  <a:endParaRPr lang="en-US" altLang="ko-KR" sz="95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2081BD"/>
                    </a:solidFill>
                    <a:latin typeface="Arial"/>
                  </a:endParaRPr>
                </a:p>
              </p:txBody>
            </p:sp>
            <p:sp>
              <p:nvSpPr>
                <p:cNvPr id="156" name="직사각형 155"/>
                <p:cNvSpPr/>
                <p:nvPr/>
              </p:nvSpPr>
              <p:spPr>
                <a:xfrm>
                  <a:off x="5394962" y="1832135"/>
                  <a:ext cx="912429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Parameters</a:t>
                  </a:r>
                </a:p>
              </p:txBody>
            </p:sp>
            <p:sp>
              <p:nvSpPr>
                <p:cNvPr id="157" name="직사각형 156"/>
                <p:cNvSpPr/>
                <p:nvPr/>
              </p:nvSpPr>
              <p:spPr>
                <a:xfrm>
                  <a:off x="5394962" y="2103397"/>
                  <a:ext cx="734496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Decoder</a:t>
                  </a:r>
                </a:p>
              </p:txBody>
            </p:sp>
            <p:pic>
              <p:nvPicPr>
                <p:cNvPr id="158" name="그림 157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2541190"/>
                  <a:ext cx="205148" cy="207121"/>
                </a:xfrm>
                <a:prstGeom prst="rect">
                  <a:avLst/>
                </a:prstGeom>
              </p:spPr>
            </p:pic>
            <p:sp>
              <p:nvSpPr>
                <p:cNvPr id="159" name="직사각형 158"/>
                <p:cNvSpPr/>
                <p:nvPr/>
              </p:nvSpPr>
              <p:spPr>
                <a:xfrm>
                  <a:off x="5394962" y="2371411"/>
                  <a:ext cx="545342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Head</a:t>
                  </a:r>
                </a:p>
              </p:txBody>
            </p:sp>
            <p:cxnSp>
              <p:nvCxnSpPr>
                <p:cNvPr id="160" name="직선 연결선 159"/>
                <p:cNvCxnSpPr/>
                <p:nvPr/>
              </p:nvCxnSpPr>
              <p:spPr>
                <a:xfrm>
                  <a:off x="5346839" y="1709121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64" name="직선 연결선 163"/>
                <p:cNvCxnSpPr/>
                <p:nvPr/>
              </p:nvCxnSpPr>
              <p:spPr>
                <a:xfrm>
                  <a:off x="5346839" y="1975821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65" name="직선 연결선 164"/>
                <p:cNvCxnSpPr/>
                <p:nvPr/>
              </p:nvCxnSpPr>
              <p:spPr>
                <a:xfrm>
                  <a:off x="5346839" y="2242521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66" name="직선 연결선 165"/>
                <p:cNvCxnSpPr>
                  <a:endCxn id="1037" idx="1"/>
                </p:cNvCxnSpPr>
                <p:nvPr/>
              </p:nvCxnSpPr>
              <p:spPr>
                <a:xfrm flipV="1">
                  <a:off x="5346839" y="2498760"/>
                  <a:ext cx="1076952" cy="10462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pic>
              <p:nvPicPr>
                <p:cNvPr id="1037" name="그림 1036"/>
                <p:cNvPicPr>
                  <a:picLocks noChangeAspect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23791" y="2140309"/>
                  <a:ext cx="710073" cy="716901"/>
                </a:xfrm>
                <a:prstGeom prst="rect">
                  <a:avLst/>
                </a:prstGeom>
              </p:spPr>
            </p:pic>
            <p:sp>
              <p:nvSpPr>
                <p:cNvPr id="169" name="Rounded Rectangle 24"/>
                <p:cNvSpPr/>
                <p:nvPr/>
              </p:nvSpPr>
              <p:spPr>
                <a:xfrm>
                  <a:off x="5190197" y="3281705"/>
                  <a:ext cx="1937067" cy="2817111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70" name="TextBox 169"/>
                <p:cNvSpPr txBox="1"/>
                <p:nvPr/>
              </p:nvSpPr>
              <p:spPr>
                <a:xfrm>
                  <a:off x="5249063" y="3376321"/>
                  <a:ext cx="1839768" cy="18418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081BD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5-Class prediction M</a:t>
                  </a:r>
                </a:p>
              </p:txBody>
            </p:sp>
            <p:pic>
              <p:nvPicPr>
                <p:cNvPr id="52" name="Picture 51" descr="p3_mask.png"/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377280" y="3611781"/>
                  <a:ext cx="1583860" cy="1583860"/>
                </a:xfrm>
                <a:prstGeom prst="rect">
                  <a:avLst/>
                </a:prstGeom>
              </p:spPr>
            </p:pic>
            <p:grpSp>
              <p:nvGrpSpPr>
                <p:cNvPr id="1038" name="그룹 1037"/>
                <p:cNvGrpSpPr/>
                <p:nvPr/>
              </p:nvGrpSpPr>
              <p:grpSpPr>
                <a:xfrm>
                  <a:off x="5394962" y="5248268"/>
                  <a:ext cx="1547178" cy="287579"/>
                  <a:chOff x="5382262" y="5641593"/>
                  <a:chExt cx="1538338" cy="176820"/>
                </a:xfrm>
              </p:grpSpPr>
              <p:sp>
                <p:nvSpPr>
                  <p:cNvPr id="53" name="Rectangle 52"/>
                  <p:cNvSpPr/>
                  <p:nvPr/>
                </p:nvSpPr>
                <p:spPr>
                  <a:xfrm>
                    <a:off x="5382262" y="5641593"/>
                    <a:ext cx="265231" cy="176820"/>
                  </a:xfrm>
                  <a:prstGeom prst="roundRect">
                    <a:avLst/>
                  </a:prstGeom>
                  <a:solidFill>
                    <a:srgbClr val="3B0F70"/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5382262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FFFFF"/>
                        </a:solidFill>
                        <a:latin typeface="Arial"/>
                      </a:rPr>
                      <a:t>0</a:t>
                    </a:r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>
                  <a:xfrm>
                    <a:off x="5700539" y="5641593"/>
                    <a:ext cx="265231" cy="176820"/>
                  </a:xfrm>
                  <a:prstGeom prst="roundRect">
                    <a:avLst/>
                  </a:prstGeom>
                  <a:solidFill>
                    <a:srgbClr val="8C2981"/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5700539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FFFFF"/>
                        </a:solidFill>
                        <a:latin typeface="Arial"/>
                      </a:rPr>
                      <a:t>1</a:t>
                    </a:r>
                  </a:p>
                </p:txBody>
              </p:sp>
              <p:sp>
                <p:nvSpPr>
                  <p:cNvPr id="57" name="Rectangle 56"/>
                  <p:cNvSpPr/>
                  <p:nvPr/>
                </p:nvSpPr>
                <p:spPr>
                  <a:xfrm>
                    <a:off x="6018816" y="5641593"/>
                    <a:ext cx="265231" cy="176820"/>
                  </a:xfrm>
                  <a:prstGeom prst="roundRect">
                    <a:avLst/>
                  </a:prstGeom>
                  <a:solidFill>
                    <a:srgbClr val="DE4968"/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58" name="TextBox 57"/>
                  <p:cNvSpPr txBox="1"/>
                  <p:nvPr/>
                </p:nvSpPr>
                <p:spPr>
                  <a:xfrm>
                    <a:off x="6018816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FFFFF"/>
                        </a:solidFill>
                        <a:latin typeface="Arial"/>
                      </a:rPr>
                      <a:t>2</a:t>
                    </a:r>
                  </a:p>
                </p:txBody>
              </p:sp>
              <p:sp>
                <p:nvSpPr>
                  <p:cNvPr id="59" name="Rectangle 58"/>
                  <p:cNvSpPr/>
                  <p:nvPr/>
                </p:nvSpPr>
                <p:spPr>
                  <a:xfrm>
                    <a:off x="6337092" y="5641593"/>
                    <a:ext cx="265231" cy="176820"/>
                  </a:xfrm>
                  <a:prstGeom prst="roundRect">
                    <a:avLst/>
                  </a:prstGeom>
                  <a:solidFill>
                    <a:srgbClr val="FE9F6D"/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60" name="TextBox 59"/>
                  <p:cNvSpPr txBox="1"/>
                  <p:nvPr/>
                </p:nvSpPr>
                <p:spPr>
                  <a:xfrm>
                    <a:off x="6337092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Arial"/>
                      </a:rPr>
                      <a:t>3</a:t>
                    </a:r>
                  </a:p>
                </p:txBody>
              </p:sp>
              <p:sp>
                <p:nvSpPr>
                  <p:cNvPr id="61" name="Rectangle 60"/>
                  <p:cNvSpPr/>
                  <p:nvPr/>
                </p:nvSpPr>
                <p:spPr>
                  <a:xfrm>
                    <a:off x="6655369" y="5641593"/>
                    <a:ext cx="265231" cy="176820"/>
                  </a:xfrm>
                  <a:prstGeom prst="round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6655369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Arial"/>
                      </a:rPr>
                      <a:t>4</a:t>
                    </a:r>
                  </a:p>
                </p:txBody>
              </p:sp>
            </p:grpSp>
            <p:sp>
              <p:nvSpPr>
                <p:cNvPr id="63" name="TextBox 62"/>
                <p:cNvSpPr txBox="1"/>
                <p:nvPr/>
              </p:nvSpPr>
              <p:spPr>
                <a:xfrm>
                  <a:off x="5558321" y="5610071"/>
                  <a:ext cx="1040893" cy="4154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Background</a:t>
                  </a:r>
                  <a:b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</a:br>
                  <a:r>
                    <a:rPr lang="en-US" sz="7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Discocyte</a:t>
                  </a:r>
                  <a:b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</a:br>
                  <a: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Echinocyte</a:t>
                  </a:r>
                </a:p>
              </p:txBody>
            </p:sp>
            <p:pic>
              <p:nvPicPr>
                <p:cNvPr id="179" name="그림 178"/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BEBA8EAE-BF5A-486C-A8C5-ECC9F3942E4B}">
                      <a14:imgProps xmlns:a14="http://schemas.microsoft.com/office/drawing/2010/main">
                        <a14:imgLayer r:embed="rId18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2177" y="1168598"/>
                  <a:ext cx="306762" cy="309713"/>
                </a:xfrm>
                <a:prstGeom prst="rect">
                  <a:avLst/>
                </a:prstGeom>
              </p:spPr>
            </p:pic>
            <p:cxnSp>
              <p:nvCxnSpPr>
                <p:cNvPr id="195" name="직선 연결선 194"/>
                <p:cNvCxnSpPr/>
                <p:nvPr/>
              </p:nvCxnSpPr>
              <p:spPr>
                <a:xfrm>
                  <a:off x="7709143" y="2444303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pic>
              <p:nvPicPr>
                <p:cNvPr id="1044" name="그림 1043"/>
                <p:cNvPicPr>
                  <a:picLocks noChangeAspect="1"/>
                </p:cNvPicPr>
                <p:nvPr/>
              </p:nvPicPr>
              <p:blipFill>
                <a:blip r:embed="rId19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60315" y="1954166"/>
                  <a:ext cx="181477" cy="183222"/>
                </a:xfrm>
                <a:prstGeom prst="rect">
                  <a:avLst/>
                </a:prstGeom>
              </p:spPr>
            </p:pic>
            <p:sp>
              <p:nvSpPr>
                <p:cNvPr id="207" name="Rounded Rectangle 64"/>
                <p:cNvSpPr/>
                <p:nvPr/>
              </p:nvSpPr>
              <p:spPr>
                <a:xfrm>
                  <a:off x="7634429" y="2518548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8" name="TextBox 207"/>
                    <p:cNvSpPr txBox="1"/>
                    <p:nvPr/>
                  </p:nvSpPr>
                  <p:spPr>
                    <a:xfrm>
                      <a:off x="7709143" y="2545724"/>
                      <a:ext cx="1121081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l-GR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l-GR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₁ </m:t>
                          </m:r>
                          <m:r>
                            <a:rPr lang="el-GR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l-GR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PMC</a:t>
                      </a:r>
                    </a:p>
                  </p:txBody>
                </p:sp>
              </mc:Choice>
              <mc:Fallback xmlns="">
                <p:sp>
                  <p:nvSpPr>
                    <p:cNvPr id="208" name="TextBox 20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09143" y="2545724"/>
                      <a:ext cx="1121081" cy="184666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1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9" name="TextBox 208"/>
                <p:cNvSpPr txBox="1"/>
                <p:nvPr/>
              </p:nvSpPr>
              <p:spPr>
                <a:xfrm>
                  <a:off x="7854956" y="2757477"/>
                  <a:ext cx="1564909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altLang="ko-KR" sz="10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Phase-mask contrast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0" name="TextBox 209"/>
                    <p:cNvSpPr txBox="1"/>
                    <p:nvPr/>
                  </p:nvSpPr>
                  <p:spPr>
                    <a:xfrm>
                      <a:off x="7828310" y="2956376"/>
                      <a:ext cx="2003828" cy="2923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Cell phase &gt; background</a:t>
                      </a:r>
                    </a:p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14:m>
                        <m:oMath xmlns:m="http://schemas.openxmlformats.org/officeDocument/2006/math">
                          <m:r>
                            <a:rPr lang="en-US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₁</m:t>
                          </m:r>
                        </m:oMath>
                      </a14:m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 = 0.10</a:t>
                      </a:r>
                    </a:p>
                  </p:txBody>
                </p:sp>
              </mc:Choice>
              <mc:Fallback xmlns="">
                <p:sp>
                  <p:nvSpPr>
                    <p:cNvPr id="210" name="TextBox 20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28310" y="2956376"/>
                      <a:ext cx="2003828" cy="2923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1" name="직선 연결선 210"/>
                <p:cNvCxnSpPr/>
                <p:nvPr/>
              </p:nvCxnSpPr>
              <p:spPr>
                <a:xfrm>
                  <a:off x="7709143" y="3337805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pic>
              <p:nvPicPr>
                <p:cNvPr id="212" name="그림 211"/>
                <p:cNvPicPr>
                  <a:picLocks noChangeAspect="1"/>
                </p:cNvPicPr>
                <p:nvPr/>
              </p:nvPicPr>
              <p:blipFill>
                <a:blip r:embed="rId19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60315" y="2754952"/>
                  <a:ext cx="181477" cy="183222"/>
                </a:xfrm>
                <a:prstGeom prst="rect">
                  <a:avLst/>
                </a:prstGeom>
              </p:spPr>
            </p:pic>
            <p:sp>
              <p:nvSpPr>
                <p:cNvPr id="213" name="Rounded Rectangle 64"/>
                <p:cNvSpPr/>
                <p:nvPr/>
              </p:nvSpPr>
              <p:spPr>
                <a:xfrm>
                  <a:off x="7634429" y="3432948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4" name="TextBox 213"/>
                    <p:cNvSpPr txBox="1"/>
                    <p:nvPr/>
                  </p:nvSpPr>
                  <p:spPr>
                    <a:xfrm>
                      <a:off x="7709143" y="3460124"/>
                      <a:ext cx="1121081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l-GR" altLang="ko-KR" sz="12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l-GR" altLang="ko-KR" sz="12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₂ </m:t>
                          </m:r>
                          <m:r>
                            <a:rPr lang="el-GR" altLang="ko-KR" sz="12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l-GR" altLang="ko-KR" sz="12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BGA</a:t>
                      </a:r>
                    </a:p>
                  </p:txBody>
                </p:sp>
              </mc:Choice>
              <mc:Fallback xmlns="">
                <p:sp>
                  <p:nvSpPr>
                    <p:cNvPr id="214" name="TextBox 2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09143" y="3460124"/>
                      <a:ext cx="1121081" cy="184666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1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5" name="TextBox 214"/>
                <p:cNvSpPr txBox="1"/>
                <p:nvPr/>
              </p:nvSpPr>
              <p:spPr>
                <a:xfrm>
                  <a:off x="7854956" y="3682843"/>
                  <a:ext cx="1853024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altLang="ko-KR" sz="950" b="1" spc="-3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Boundary-gradient alignment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6" name="TextBox 215"/>
                    <p:cNvSpPr txBox="1"/>
                    <p:nvPr/>
                  </p:nvSpPr>
                  <p:spPr>
                    <a:xfrm>
                      <a:off x="7828310" y="3884586"/>
                      <a:ext cx="2003828" cy="2923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Contour on </a:t>
                      </a:r>
                      <a14:m>
                        <m:oMath xmlns:m="http://schemas.openxmlformats.org/officeDocument/2006/math">
                          <m:r>
                            <a:rPr lang="en-US" sz="950" i="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ridge</a:t>
                      </a:r>
                    </a:p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14:m>
                        <m:oMath xmlns:m="http://schemas.openxmlformats.org/officeDocument/2006/math"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₂ </m:t>
                          </m:r>
                        </m:oMath>
                      </a14:m>
                      <a:r>
                        <a:rPr lang="el-GR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= 0.05</a:t>
                      </a:r>
                    </a:p>
                  </p:txBody>
                </p:sp>
              </mc:Choice>
              <mc:Fallback xmlns="">
                <p:sp>
                  <p:nvSpPr>
                    <p:cNvPr id="216" name="TextBox 2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28310" y="3884586"/>
                      <a:ext cx="2003828" cy="29238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7" name="직선 연결선 216"/>
                <p:cNvCxnSpPr/>
                <p:nvPr/>
              </p:nvCxnSpPr>
              <p:spPr>
                <a:xfrm>
                  <a:off x="7709143" y="4311116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pic>
              <p:nvPicPr>
                <p:cNvPr id="218" name="그림 217"/>
                <p:cNvPicPr>
                  <a:picLocks noChangeAspect="1"/>
                </p:cNvPicPr>
                <p:nvPr/>
              </p:nvPicPr>
              <p:blipFill>
                <a:blip r:embed="rId19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60315" y="3669352"/>
                  <a:ext cx="181477" cy="183222"/>
                </a:xfrm>
                <a:prstGeom prst="rect">
                  <a:avLst/>
                </a:prstGeom>
              </p:spPr>
            </p:pic>
            <p:sp>
              <p:nvSpPr>
                <p:cNvPr id="219" name="Rounded Rectangle 64"/>
                <p:cNvSpPr/>
                <p:nvPr/>
              </p:nvSpPr>
              <p:spPr>
                <a:xfrm>
                  <a:off x="7634429" y="4583568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0" name="TextBox 219"/>
                    <p:cNvSpPr txBox="1"/>
                    <p:nvPr/>
                  </p:nvSpPr>
                  <p:spPr>
                    <a:xfrm>
                      <a:off x="7709143" y="4442846"/>
                      <a:ext cx="1121081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l-GR" altLang="ko-KR" sz="12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l-GR" altLang="ko-KR" sz="12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₃ </m:t>
                          </m:r>
                          <m:r>
                            <a:rPr lang="el-GR" altLang="ko-KR" sz="12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l-GR" altLang="ko-KR" sz="12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IPP</a:t>
                      </a:r>
                    </a:p>
                  </p:txBody>
                </p:sp>
              </mc:Choice>
              <mc:Fallback xmlns="">
                <p:sp>
                  <p:nvSpPr>
                    <p:cNvPr id="220" name="TextBox 2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09143" y="4442846"/>
                      <a:ext cx="1121081" cy="184666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1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1" name="TextBox 220"/>
                <p:cNvSpPr txBox="1"/>
                <p:nvPr/>
              </p:nvSpPr>
              <p:spPr>
                <a:xfrm>
                  <a:off x="7854956" y="4666987"/>
                  <a:ext cx="1816662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altLang="ko-KR" sz="950" b="1" spc="-3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Integrated-phase preservation</a:t>
                  </a:r>
                </a:p>
              </p:txBody>
            </p:sp>
            <p:pic>
              <p:nvPicPr>
                <p:cNvPr id="223" name="그림 222"/>
                <p:cNvPicPr>
                  <a:picLocks noChangeAspect="1"/>
                </p:cNvPicPr>
                <p:nvPr/>
              </p:nvPicPr>
              <p:blipFill>
                <a:blip r:embed="rId19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60315" y="4652074"/>
                  <a:ext cx="181477" cy="18322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4" name="TextBox 223"/>
                    <p:cNvSpPr txBox="1"/>
                    <p:nvPr/>
                  </p:nvSpPr>
                  <p:spPr>
                    <a:xfrm>
                      <a:off x="7828310" y="4869259"/>
                      <a:ext cx="2003828" cy="2923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Conserves optical mass</a:t>
                      </a:r>
                    </a:p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14:m>
                        <m:oMath xmlns:m="http://schemas.openxmlformats.org/officeDocument/2006/math"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₃ </m:t>
                          </m:r>
                        </m:oMath>
                      </a14:m>
                      <a:r>
                        <a:rPr lang="el-GR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= 0.10</a:t>
                      </a:r>
                    </a:p>
                  </p:txBody>
                </p:sp>
              </mc:Choice>
              <mc:Fallback xmlns="">
                <p:sp>
                  <p:nvSpPr>
                    <p:cNvPr id="224" name="TextBox 2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28310" y="4869259"/>
                      <a:ext cx="2003828" cy="292388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5" name="Rounded Rectangle 64"/>
                <p:cNvSpPr/>
                <p:nvPr/>
              </p:nvSpPr>
              <p:spPr>
                <a:xfrm>
                  <a:off x="9986902" y="3618660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6" name="TextBox 225"/>
                    <p:cNvSpPr txBox="1"/>
                    <p:nvPr/>
                  </p:nvSpPr>
                  <p:spPr>
                    <a:xfrm>
                      <a:off x="10108456" y="3477938"/>
                      <a:ext cx="1578719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171450">
                        <a:buClr>
                          <a:srgbClr val="08275F"/>
                        </a:buClr>
                        <a:buFont typeface="Wingdings" panose="05000000000000000000" pitchFamily="2" charset="2"/>
                        <a:buChar char="§"/>
                      </a:pPr>
                      <a14:m>
                        <m:oMath xmlns:m="http://schemas.openxmlformats.org/officeDocument/2006/math"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l-GR" altLang="ko-KR" sz="1200" b="1" i="0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𝛀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· </m:t>
                          </m:r>
                          <m:r>
                            <a:rPr lang="el-GR" altLang="ko-KR" sz="1200" b="1" i="0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²</m:t>
                          </m:r>
                        </m:oMath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226" name="TextBox 2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08456" y="3477938"/>
                      <a:ext cx="1578719" cy="184666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9" name="TextBox 228"/>
                <p:cNvSpPr txBox="1"/>
                <p:nvPr/>
              </p:nvSpPr>
              <p:spPr>
                <a:xfrm>
                  <a:off x="10203785" y="3684803"/>
                  <a:ext cx="1572826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Projected area</a:t>
                  </a:r>
                </a:p>
              </p:txBody>
            </p:sp>
            <p:cxnSp>
              <p:nvCxnSpPr>
                <p:cNvPr id="230" name="직선 연결선 229"/>
                <p:cNvCxnSpPr/>
                <p:nvPr/>
              </p:nvCxnSpPr>
              <p:spPr>
                <a:xfrm>
                  <a:off x="10081071" y="3337805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1" name="직선 연결선 230"/>
                <p:cNvCxnSpPr/>
                <p:nvPr/>
              </p:nvCxnSpPr>
              <p:spPr>
                <a:xfrm>
                  <a:off x="10081071" y="4007392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32" name="Rounded Rectangle 64"/>
                <p:cNvSpPr/>
                <p:nvPr/>
              </p:nvSpPr>
              <p:spPr>
                <a:xfrm>
                  <a:off x="9986902" y="4269806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3" name="TextBox 232"/>
                    <p:cNvSpPr txBox="1"/>
                    <p:nvPr/>
                  </p:nvSpPr>
                  <p:spPr>
                    <a:xfrm>
                      <a:off x="10108456" y="4129084"/>
                      <a:ext cx="1159619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171450">
                        <a:buClr>
                          <a:srgbClr val="08275F"/>
                        </a:buClr>
                        <a:buFont typeface="Wingdings" panose="05000000000000000000" pitchFamily="2" charset="2"/>
                        <a:buChar char="§"/>
                      </a:pPr>
                      <a14:m>
                        <m:oMath xmlns:m="http://schemas.openxmlformats.org/officeDocument/2006/math"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²</m:t>
                          </m:r>
                        </m:oMath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233" name="TextBox 23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08456" y="4129084"/>
                      <a:ext cx="1159619" cy="184666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4" name="TextBox 233"/>
                <p:cNvSpPr txBox="1"/>
                <p:nvPr/>
              </p:nvSpPr>
              <p:spPr>
                <a:xfrm>
                  <a:off x="10203785" y="4345474"/>
                  <a:ext cx="1572826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Circularity</a:t>
                  </a:r>
                </a:p>
              </p:txBody>
            </p:sp>
            <p:cxnSp>
              <p:nvCxnSpPr>
                <p:cNvPr id="235" name="직선 연결선 234"/>
                <p:cNvCxnSpPr/>
                <p:nvPr/>
              </p:nvCxnSpPr>
              <p:spPr>
                <a:xfrm>
                  <a:off x="10081071" y="4629963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36" name="Rounded Rectangle 64"/>
                <p:cNvSpPr/>
                <p:nvPr/>
              </p:nvSpPr>
              <p:spPr>
                <a:xfrm>
                  <a:off x="9986902" y="4921154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7" name="TextBox 236"/>
                    <p:cNvSpPr txBox="1"/>
                    <p:nvPr/>
                  </p:nvSpPr>
                  <p:spPr>
                    <a:xfrm>
                      <a:off x="10108456" y="4780432"/>
                      <a:ext cx="151839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171450">
                        <a:buClr>
                          <a:srgbClr val="08275F"/>
                        </a:buClr>
                        <a:buFont typeface="Wingdings" panose="05000000000000000000" pitchFamily="2" charset="2"/>
                        <a:buChar char="§"/>
                      </a:pPr>
                      <a14:m>
                        <m:oMath xmlns:m="http://schemas.openxmlformats.org/officeDocument/2006/math"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  <m:r>
                            <a:rPr lang="ko-KR" altLang="en-US" sz="1200" b="1" i="1" spc="-10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l-GR" altLang="ko-KR" sz="1200" b="1" i="0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𝚺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200" b="1" i="1" spc="-10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ᵢ · </m:t>
                          </m:r>
                          <m:r>
                            <a:rPr lang="el-GR" altLang="ko-KR" sz="1200" b="1" i="0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²</m:t>
                          </m:r>
                        </m:oMath>
                      </a14:m>
                      <a:endParaRPr dirty="0"/>
                    </a:p>
                  </p:txBody>
                </p:sp>
              </mc:Choice>
              <mc:Fallback xmlns="">
                <p:sp>
                  <p:nvSpPr>
                    <p:cNvPr id="237" name="TextBox 23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08456" y="4780432"/>
                      <a:ext cx="1518394" cy="184666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8" name="TextBox 237"/>
                <p:cNvSpPr txBox="1"/>
                <p:nvPr/>
              </p:nvSpPr>
              <p:spPr>
                <a:xfrm>
                  <a:off x="10146635" y="5000848"/>
                  <a:ext cx="1629976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Phase-integrated</a:t>
                  </a:r>
                  <a:b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</a:b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optical quantity</a:t>
                  </a:r>
                </a:p>
              </p:txBody>
            </p:sp>
            <p:cxnSp>
              <p:nvCxnSpPr>
                <p:cNvPr id="239" name="직선 연결선 238"/>
                <p:cNvCxnSpPr/>
                <p:nvPr/>
              </p:nvCxnSpPr>
              <p:spPr>
                <a:xfrm>
                  <a:off x="10081071" y="5435097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0" name="TextBox 239"/>
                    <p:cNvSpPr txBox="1"/>
                    <p:nvPr/>
                  </p:nvSpPr>
                  <p:spPr>
                    <a:xfrm>
                      <a:off x="10108456" y="5539189"/>
                      <a:ext cx="1756841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171450">
                        <a:buClr>
                          <a:srgbClr val="08275F"/>
                        </a:buClr>
                        <a:buFont typeface="Wingdings" panose="05000000000000000000" pitchFamily="2" charset="2"/>
                        <a:buChar char="§"/>
                      </a:pPr>
                      <a14:m>
                        <m:oMath xmlns:m="http://schemas.openxmlformats.org/officeDocument/2006/math"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= (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𝝅𝜶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) · 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  <m:r>
                            <a:rPr lang="ko-KR" altLang="en-US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oMath>
                      </a14:m>
                      <a:endParaRPr dirty="0"/>
                    </a:p>
                  </p:txBody>
                </p:sp>
              </mc:Choice>
              <mc:Fallback xmlns="">
                <p:sp>
                  <p:nvSpPr>
                    <p:cNvPr id="240" name="TextBox 23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08456" y="5539189"/>
                      <a:ext cx="1756841" cy="184666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b="-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41" name="TextBox 240"/>
                <p:cNvSpPr txBox="1"/>
                <p:nvPr/>
              </p:nvSpPr>
              <p:spPr>
                <a:xfrm>
                  <a:off x="10146635" y="5785788"/>
                  <a:ext cx="1629976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Dry mass</a:t>
                  </a:r>
                </a:p>
              </p:txBody>
            </p:sp>
            <p:sp>
              <p:nvSpPr>
                <p:cNvPr id="242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>
                  <a:off x="7245605" y="3582664"/>
                  <a:ext cx="211343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solidFill>
                  <a:srgbClr val="2081BD"/>
                </a:soli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6" name="자유형 1045"/>
                <p:cNvSpPr/>
                <p:nvPr/>
              </p:nvSpPr>
              <p:spPr>
                <a:xfrm>
                  <a:off x="1853660" y="375850"/>
                  <a:ext cx="6682902" cy="1741756"/>
                </a:xfrm>
                <a:custGeom>
                  <a:avLst/>
                  <a:gdLst>
                    <a:gd name="connsiteX0" fmla="*/ 0 w 6682902"/>
                    <a:gd name="connsiteY0" fmla="*/ 1517515 h 1517515"/>
                    <a:gd name="connsiteX1" fmla="*/ 204280 w 6682902"/>
                    <a:gd name="connsiteY1" fmla="*/ 1517515 h 1517515"/>
                    <a:gd name="connsiteX2" fmla="*/ 204280 w 6682902"/>
                    <a:gd name="connsiteY2" fmla="*/ 0 h 1517515"/>
                    <a:gd name="connsiteX3" fmla="*/ 6682902 w 6682902"/>
                    <a:gd name="connsiteY3" fmla="*/ 0 h 1517515"/>
                    <a:gd name="connsiteX4" fmla="*/ 6682902 w 6682902"/>
                    <a:gd name="connsiteY4" fmla="*/ 214008 h 1517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2902" h="1517515">
                      <a:moveTo>
                        <a:pt x="0" y="1517515"/>
                      </a:moveTo>
                      <a:lnTo>
                        <a:pt x="204280" y="1517515"/>
                      </a:lnTo>
                      <a:lnTo>
                        <a:pt x="204280" y="0"/>
                      </a:lnTo>
                      <a:lnTo>
                        <a:pt x="6682902" y="0"/>
                      </a:lnTo>
                      <a:lnTo>
                        <a:pt x="6682902" y="214008"/>
                      </a:lnTo>
                    </a:path>
                  </a:pathLst>
                </a:custGeom>
                <a:noFill/>
                <a:ln w="19050">
                  <a:gradFill>
                    <a:gsLst>
                      <a:gs pos="0">
                        <a:srgbClr val="636363"/>
                      </a:gs>
                      <a:gs pos="100000">
                        <a:srgbClr val="004B94"/>
                      </a:gs>
                    </a:gsLst>
                    <a:lin ang="600000" scaled="0"/>
                  </a:gradFill>
                  <a:tailEnd type="arrow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4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>
                  <a:off x="1951587" y="4553209"/>
                  <a:ext cx="211343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solidFill>
                  <a:srgbClr val="636363"/>
                </a:soli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048" name="직선 연결선 1047"/>
                <p:cNvCxnSpPr/>
                <p:nvPr/>
              </p:nvCxnSpPr>
              <p:spPr>
                <a:xfrm>
                  <a:off x="3559046" y="6512727"/>
                  <a:ext cx="4987244" cy="0"/>
                </a:xfrm>
                <a:prstGeom prst="line">
                  <a:avLst/>
                </a:prstGeom>
                <a:noFill/>
                <a:ln w="19050">
                  <a:gradFill>
                    <a:gsLst>
                      <a:gs pos="0">
                        <a:srgbClr val="029BC2"/>
                      </a:gs>
                      <a:gs pos="100000">
                        <a:srgbClr val="004B94"/>
                      </a:gs>
                    </a:gsLst>
                    <a:lin ang="6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50" name="직선 연결선 1049"/>
                <p:cNvCxnSpPr>
                  <a:stCxn id="13" idx="2"/>
                </p:cNvCxnSpPr>
                <p:nvPr/>
              </p:nvCxnSpPr>
              <p:spPr>
                <a:xfrm flipH="1">
                  <a:off x="8536562" y="6263406"/>
                  <a:ext cx="1188" cy="249321"/>
                </a:xfrm>
                <a:prstGeom prst="line">
                  <a:avLst/>
                </a:prstGeom>
                <a:solidFill>
                  <a:srgbClr val="FEF4F3"/>
                </a:solidFill>
                <a:ln w="15875">
                  <a:solidFill>
                    <a:srgbClr val="004B9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0" name="직선 연결선 259"/>
                <p:cNvCxnSpPr/>
                <p:nvPr/>
              </p:nvCxnSpPr>
              <p:spPr>
                <a:xfrm>
                  <a:off x="3557827" y="6111530"/>
                  <a:ext cx="0" cy="409333"/>
                </a:xfrm>
                <a:prstGeom prst="line">
                  <a:avLst/>
                </a:prstGeom>
                <a:solidFill>
                  <a:srgbClr val="FEF4F3"/>
                </a:solidFill>
                <a:ln w="15875">
                  <a:solidFill>
                    <a:srgbClr val="029BC2"/>
                  </a:solidFill>
                  <a:headEnd type="arrow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/>
                    <p:cNvSpPr txBox="1"/>
                    <p:nvPr/>
                  </p:nvSpPr>
                  <p:spPr>
                    <a:xfrm>
                      <a:off x="2659571" y="276206"/>
                      <a:ext cx="5342339" cy="21639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 w="15875">
                      <a:gradFill>
                        <a:gsLst>
                          <a:gs pos="0">
                            <a:srgbClr val="686363"/>
                          </a:gs>
                          <a:gs pos="100000">
                            <a:srgbClr val="004B94"/>
                          </a:gs>
                        </a:gsLst>
                        <a:lin ang="4200000" scaled="0"/>
                      </a:gradFill>
                    </a:ln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sz="1000" b="1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Raw </a:t>
                      </a:r>
                      <a:r>
                        <a:rPr lang="en-US" sz="1000" b="1" i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unnormalised</a:t>
                      </a:r>
                      <a:r>
                        <a:rPr lang="en-US" sz="1000" b="1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 phase </a:t>
                      </a:r>
                      <a14:m>
                        <m:oMath xmlns:m="http://schemas.openxmlformats.org/officeDocument/2006/math">
                          <m:r>
                            <a:rPr lang="en-US" sz="10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oMath>
                      </a14:m>
                      <a:r>
                        <a:rPr lang="en-US" sz="1000" b="1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 (radians) bypasses </a:t>
                      </a:r>
                      <a:r>
                        <a:rPr lang="en-US" sz="1000" b="1" i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normalisation</a:t>
                      </a:r>
                      <a:r>
                        <a:rPr lang="en-US" sz="1000" b="1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 and supervises the loss</a:t>
                      </a:r>
                    </a:p>
                  </p:txBody>
                </p:sp>
              </mc:Choice>
              <mc:Fallback xmlns="">
                <p:sp>
                  <p:nvSpPr>
                    <p:cNvPr id="104" name="TextBox 10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59571" y="276206"/>
                      <a:ext cx="5342339" cy="216396"/>
                    </a:xfrm>
                    <a:prstGeom prst="roundRect">
                      <a:avLst>
                        <a:gd name="adj" fmla="val 50000"/>
                      </a:avLst>
                    </a:prstGeom>
                    <a:blipFill>
                      <a:blip r:embed="rId30"/>
                      <a:stretch>
                        <a:fillRect/>
                      </a:stretch>
                    </a:blipFill>
                    <a:ln w="15875">
                      <a:gradFill>
                        <a:gsLst>
                          <a:gs pos="0">
                            <a:srgbClr val="686363"/>
                          </a:gs>
                          <a:gs pos="100000">
                            <a:srgbClr val="004B94"/>
                          </a:gs>
                        </a:gsLst>
                        <a:lin ang="4200000" scaled="0"/>
                      </a:gra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9" name="TextBox 268"/>
                <p:cNvSpPr txBox="1"/>
                <p:nvPr/>
              </p:nvSpPr>
              <p:spPr>
                <a:xfrm>
                  <a:off x="3800622" y="6404128"/>
                  <a:ext cx="4441238" cy="21639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5875">
                  <a:gradFill>
                    <a:gsLst>
                      <a:gs pos="0">
                        <a:srgbClr val="0E9BC2"/>
                      </a:gs>
                      <a:gs pos="100000">
                        <a:srgbClr val="004B94"/>
                      </a:gs>
                    </a:gsLst>
                    <a:lin ang="4200000" scaled="0"/>
                  </a:gradFill>
                </a:ln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1000" b="1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Gradients update </a:t>
                  </a:r>
                  <a:r>
                    <a:rPr lang="en-US" sz="1000" b="1" i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LoRA</a:t>
                  </a:r>
                  <a:r>
                    <a:rPr lang="en-US" sz="1000" b="1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 adapters, Stem, </a:t>
                  </a:r>
                  <a:r>
                    <a:rPr lang="en-US" sz="1000" b="1" i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Normalisation</a:t>
                  </a:r>
                  <a:r>
                    <a:rPr lang="en-US" sz="1000" b="1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 and head only</a:t>
                  </a:r>
                </a:p>
              </p:txBody>
            </p:sp>
            <p:pic>
              <p:nvPicPr>
                <p:cNvPr id="1058" name="그림 1057"/>
                <p:cNvPicPr>
                  <a:picLocks noChangeAspect="1"/>
                </p:cNvPicPr>
                <p:nvPr/>
              </p:nvPicPr>
              <p:blipFill>
                <a:blip r:embed="rId3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01721" y="2828603"/>
                  <a:ext cx="127803" cy="129032"/>
                </a:xfrm>
                <a:prstGeom prst="rect">
                  <a:avLst/>
                </a:prstGeom>
              </p:spPr>
            </p:pic>
            <p:sp>
              <p:nvSpPr>
                <p:cNvPr id="271" name="TextBox 270"/>
                <p:cNvSpPr txBox="1"/>
                <p:nvPr/>
              </p:nvSpPr>
              <p:spPr>
                <a:xfrm>
                  <a:off x="2497341" y="5851127"/>
                  <a:ext cx="216605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975A6"/>
                      </a:solidFill>
                      <a:latin typeface="Arial"/>
                    </a:rPr>
                    <a:t>Trainable (8.90% of parameters)</a:t>
                  </a:r>
                </a:p>
              </p:txBody>
            </p:sp>
            <p:pic>
              <p:nvPicPr>
                <p:cNvPr id="272" name="그림 271"/>
                <p:cNvPicPr>
                  <a:picLocks noChangeAspect="1"/>
                </p:cNvPicPr>
                <p:nvPr/>
              </p:nvPicPr>
              <p:blipFill>
                <a:blip r:embed="rId3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39314" y="5857505"/>
                  <a:ext cx="127803" cy="129032"/>
                </a:xfrm>
                <a:prstGeom prst="rect">
                  <a:avLst/>
                </a:prstGeom>
              </p:spPr>
            </p:pic>
            <p:sp>
              <p:nvSpPr>
                <p:cNvPr id="274" name="Rectangle 52"/>
                <p:cNvSpPr/>
                <p:nvPr/>
              </p:nvSpPr>
              <p:spPr>
                <a:xfrm rot="5400000">
                  <a:off x="5446322" y="5664886"/>
                  <a:ext cx="58400" cy="49504"/>
                </a:xfrm>
                <a:prstGeom prst="roundRect">
                  <a:avLst/>
                </a:prstGeom>
                <a:solidFill>
                  <a:srgbClr val="3B0F70"/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76" name="Rectangle 54"/>
                <p:cNvSpPr/>
                <p:nvPr/>
              </p:nvSpPr>
              <p:spPr>
                <a:xfrm rot="5400000">
                  <a:off x="5446322" y="5789695"/>
                  <a:ext cx="58400" cy="49504"/>
                </a:xfrm>
                <a:prstGeom prst="roundRect">
                  <a:avLst/>
                </a:prstGeom>
                <a:solidFill>
                  <a:srgbClr val="8C2981"/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78" name="Rectangle 56"/>
                <p:cNvSpPr/>
                <p:nvPr/>
              </p:nvSpPr>
              <p:spPr>
                <a:xfrm rot="5400000">
                  <a:off x="5446322" y="5914504"/>
                  <a:ext cx="58400" cy="49504"/>
                </a:xfrm>
                <a:prstGeom prst="roundRect">
                  <a:avLst/>
                </a:prstGeom>
                <a:solidFill>
                  <a:srgbClr val="DE4968"/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80" name="Rectangle 58"/>
                <p:cNvSpPr/>
                <p:nvPr/>
              </p:nvSpPr>
              <p:spPr>
                <a:xfrm rot="5400000">
                  <a:off x="6240072" y="5669395"/>
                  <a:ext cx="58400" cy="49504"/>
                </a:xfrm>
                <a:prstGeom prst="roundRect">
                  <a:avLst/>
                </a:prstGeom>
                <a:solidFill>
                  <a:srgbClr val="FE9F6D"/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82" name="Rectangle 60"/>
                <p:cNvSpPr/>
                <p:nvPr/>
              </p:nvSpPr>
              <p:spPr>
                <a:xfrm rot="5400000">
                  <a:off x="6240072" y="5794204"/>
                  <a:ext cx="58400" cy="49504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84" name="TextBox 283"/>
                <p:cNvSpPr txBox="1"/>
                <p:nvPr/>
              </p:nvSpPr>
              <p:spPr>
                <a:xfrm>
                  <a:off x="6346570" y="5620343"/>
                  <a:ext cx="1040893" cy="2643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7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Spherocyte</a:t>
                  </a:r>
                  <a:b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</a:br>
                  <a:r>
                    <a:rPr lang="en-US" sz="7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Stomatocyte</a:t>
                  </a:r>
                  <a:endParaRPr lang="en-US" sz="7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</a:endParaRPr>
                </a:p>
              </p:txBody>
            </p:sp>
            <p:cxnSp>
              <p:nvCxnSpPr>
                <p:cNvPr id="1060" name="직선 연결선 1059"/>
                <p:cNvCxnSpPr/>
                <p:nvPr/>
              </p:nvCxnSpPr>
              <p:spPr>
                <a:xfrm>
                  <a:off x="2515111" y="5767500"/>
                  <a:ext cx="19672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4774F573-2F67-40EB-892A-930121E3E836}"/>
                    </a:ext>
                  </a:extLst>
                </p:cNvPr>
                <p:cNvSpPr txBox="1"/>
                <p:nvPr/>
              </p:nvSpPr>
              <p:spPr>
                <a:xfrm>
                  <a:off x="1634370" y="1663573"/>
                  <a:ext cx="164472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8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6.3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CFFB8879-80F0-4D8B-A9FB-54F5D53E0E1B}"/>
                    </a:ext>
                  </a:extLst>
                </p:cNvPr>
                <p:cNvSpPr txBox="1"/>
                <p:nvPr/>
              </p:nvSpPr>
              <p:spPr>
                <a:xfrm>
                  <a:off x="1646257" y="2588172"/>
                  <a:ext cx="119846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sz="8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0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3DF9B772-840C-4D63-8725-9FD056B6BCC5}"/>
                    </a:ext>
                  </a:extLst>
                </p:cNvPr>
                <p:cNvSpPr txBox="1"/>
                <p:nvPr/>
              </p:nvSpPr>
              <p:spPr>
                <a:xfrm>
                  <a:off x="1635529" y="2783344"/>
                  <a:ext cx="203466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sz="8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-2.5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FFA19812-E088-41BF-A0A3-0CCF0355703A}"/>
                    </a:ext>
                  </a:extLst>
                </p:cNvPr>
                <p:cNvSpPr txBox="1"/>
                <p:nvPr/>
              </p:nvSpPr>
              <p:spPr>
                <a:xfrm>
                  <a:off x="1714308" y="4734252"/>
                  <a:ext cx="106654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sz="8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3</a:t>
                  </a: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744BEFB7-A007-4360-8087-DB85F6D1406B}"/>
                    </a:ext>
                  </a:extLst>
                </p:cNvPr>
                <p:cNvSpPr txBox="1"/>
                <p:nvPr/>
              </p:nvSpPr>
              <p:spPr>
                <a:xfrm>
                  <a:off x="1714308" y="5328939"/>
                  <a:ext cx="106654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sz="8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0</a:t>
                  </a: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73CE3E4F-E638-4887-9E15-87B4B126A98B}"/>
                    </a:ext>
                  </a:extLst>
                </p:cNvPr>
                <p:cNvSpPr txBox="1"/>
                <p:nvPr/>
              </p:nvSpPr>
              <p:spPr>
                <a:xfrm>
                  <a:off x="1714308" y="5913541"/>
                  <a:ext cx="106654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sz="8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-3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9B275737-7EFF-4A42-A06F-6320EAD916AF}"/>
                    </a:ext>
                  </a:extLst>
                </p:cNvPr>
                <p:cNvSpPr txBox="1"/>
                <p:nvPr/>
              </p:nvSpPr>
              <p:spPr>
                <a:xfrm>
                  <a:off x="11609081" y="1709121"/>
                  <a:ext cx="248081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8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high</a:t>
                  </a:r>
                </a:p>
              </p:txBody>
            </p:sp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8A144EB8-19D3-4B32-A5B3-9F9D01AB7101}"/>
                    </a:ext>
                  </a:extLst>
                </p:cNvPr>
                <p:cNvSpPr txBox="1"/>
                <p:nvPr/>
              </p:nvSpPr>
              <p:spPr>
                <a:xfrm>
                  <a:off x="11604933" y="3071594"/>
                  <a:ext cx="210693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8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low</a:t>
                  </a:r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3099004" y="5074045"/>
                  <a:ext cx="353641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0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888888"/>
                      </a:solidFill>
                      <a:latin typeface="Arial"/>
                    </a:rPr>
                    <a:t>d × r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3446400" y="4786064"/>
                  <a:ext cx="371323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0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888888"/>
                      </a:solidFill>
                      <a:latin typeface="Arial"/>
                    </a:rPr>
                    <a:t>r × k</a:t>
                  </a:r>
                </a:p>
              </p:txBody>
            </p:sp>
          </p:grp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AE8004E-CE08-AA4E-94D5-878FE633DAE5}"/>
              </a:ext>
            </a:extLst>
          </p:cNvPr>
          <p:cNvSpPr txBox="1"/>
          <p:nvPr/>
        </p:nvSpPr>
        <p:spPr>
          <a:xfrm>
            <a:off x="0" y="0"/>
            <a:ext cx="885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1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4300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8B90-601C-1C19-388D-F23AF53C1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p3_mask.png">
            <a:extLst>
              <a:ext uri="{FF2B5EF4-FFF2-40B4-BE49-F238E27FC236}">
                <a16:creationId xmlns:a16="http://schemas.microsoft.com/office/drawing/2014/main" id="{3594289F-97B5-F2F2-6116-5B192D6BD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001" y="3624945"/>
            <a:ext cx="1583860" cy="158386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13CCB30-D410-9443-3A55-CDDB5DB4D5D2}"/>
              </a:ext>
            </a:extLst>
          </p:cNvPr>
          <p:cNvSpPr txBox="1"/>
          <p:nvPr/>
        </p:nvSpPr>
        <p:spPr>
          <a:xfrm>
            <a:off x="0" y="0"/>
            <a:ext cx="1589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</a:t>
            </a:r>
            <a:r>
              <a:rPr lang="ko-KR" altLang="en-US" sz="1400" b="1" dirty="0"/>
              <a:t> </a:t>
            </a:r>
            <a:r>
              <a:rPr lang="en-US" altLang="ko-KR" sz="1400" b="1"/>
              <a:t>1 Objects</a:t>
            </a:r>
            <a:endParaRPr lang="ko-KR" altLang="en-US" sz="1400" b="1" dirty="0"/>
          </a:p>
        </p:txBody>
      </p:sp>
      <p:pic>
        <p:nvPicPr>
          <p:cNvPr id="51" name="Picture 50" descr="p1_phase.png">
            <a:extLst>
              <a:ext uri="{FF2B5EF4-FFF2-40B4-BE49-F238E27FC236}">
                <a16:creationId xmlns:a16="http://schemas.microsoft.com/office/drawing/2014/main" id="{D25C8E7F-326E-A51F-AB01-D00664705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54" y="1477732"/>
            <a:ext cx="1443132" cy="1228866"/>
          </a:xfrm>
          <a:prstGeom prst="rect">
            <a:avLst/>
          </a:prstGeom>
        </p:spPr>
      </p:pic>
      <p:pic>
        <p:nvPicPr>
          <p:cNvPr id="69" name="Picture 68" descr="p4_volume.png">
            <a:extLst>
              <a:ext uri="{FF2B5EF4-FFF2-40B4-BE49-F238E27FC236}">
                <a16:creationId xmlns:a16="http://schemas.microsoft.com/office/drawing/2014/main" id="{520A6665-B799-F6A8-AEAC-9A58969EF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4005" y="1727452"/>
            <a:ext cx="1756841" cy="1483046"/>
          </a:xfrm>
          <a:prstGeom prst="rect">
            <a:avLst/>
          </a:prstGeom>
        </p:spPr>
      </p:pic>
      <p:pic>
        <p:nvPicPr>
          <p:cNvPr id="71" name="Picture 70" descr="p2_norm.png">
            <a:extLst>
              <a:ext uri="{FF2B5EF4-FFF2-40B4-BE49-F238E27FC236}">
                <a16:creationId xmlns:a16="http://schemas.microsoft.com/office/drawing/2014/main" id="{01530DDB-B2CF-5D94-61C5-7B40A5E04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03" y="4765835"/>
            <a:ext cx="1462663" cy="129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3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62F793-E7C9-3EE8-903B-FEB9891A4BFD}"/>
              </a:ext>
            </a:extLst>
          </p:cNvPr>
          <p:cNvSpPr txBox="1"/>
          <p:nvPr/>
        </p:nvSpPr>
        <p:spPr>
          <a:xfrm>
            <a:off x="0" y="0"/>
            <a:ext cx="1060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S-4</a:t>
            </a:r>
            <a:endParaRPr lang="ko-KR" altLang="en-US" sz="1400" b="1" dirty="0"/>
          </a:p>
        </p:txBody>
      </p:sp>
      <p:grpSp>
        <p:nvGrpSpPr>
          <p:cNvPr id="17" name="Figure"/>
          <p:cNvGrpSpPr/>
          <p:nvPr/>
        </p:nvGrpSpPr>
        <p:grpSpPr>
          <a:xfrm>
            <a:off x="1271214" y="1742927"/>
            <a:ext cx="9649571" cy="3372145"/>
            <a:chOff x="1271214" y="1742927"/>
            <a:chExt cx="9649571" cy="3372145"/>
          </a:xfrm>
        </p:grpSpPr>
        <p:sp>
          <p:nvSpPr>
            <p:cNvPr id="16" name="Figure backing"/>
            <p:cNvSpPr/>
            <p:nvPr/>
          </p:nvSpPr>
          <p:spPr>
            <a:xfrm>
              <a:off x="1271214" y="1742927"/>
              <a:ext cx="9649571" cy="33721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3" name="Picture 2" descr="fig07_p1_raw_phas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934" y="2002959"/>
              <a:ext cx="3066393" cy="3066393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1454921" y="4876501"/>
              <a:ext cx="554156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441067" y="4644853"/>
              <a:ext cx="58186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16934" y="1788647"/>
              <a:ext cx="3066393" cy="19050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250" b="1">
                  <a:solidFill>
                    <a:srgbClr val="000000"/>
                  </a:solidFill>
                  <a:latin typeface="Arial"/>
                </a:rPr>
                <a:t>Raw Quantitative Phase Map (rad)</a:t>
              </a:r>
            </a:p>
          </p:txBody>
        </p:sp>
        <p:pic>
          <p:nvPicPr>
            <p:cNvPr id="7" name="Picture 6" descr="fig07_p2_phase_gradien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2803" y="2002959"/>
              <a:ext cx="3066393" cy="3066393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4700791" y="4876501"/>
              <a:ext cx="554156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86937" y="4644853"/>
              <a:ext cx="58186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62803" y="1788647"/>
              <a:ext cx="3066393" cy="19050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250" b="1">
                  <a:solidFill>
                    <a:srgbClr val="000000"/>
                  </a:solidFill>
                  <a:latin typeface="Arial"/>
                </a:rPr>
                <a:t>Phase Gradient Magnitude</a:t>
              </a:r>
            </a:p>
          </p:txBody>
        </p:sp>
        <p:pic>
          <p:nvPicPr>
            <p:cNvPr id="11" name="Picture 10" descr="fig07_p3_edgesam_contou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8672" y="2002959"/>
              <a:ext cx="3066393" cy="3066393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7946660" y="4876501"/>
              <a:ext cx="554156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32806" y="4644853"/>
              <a:ext cx="58186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08672" y="1788647"/>
              <a:ext cx="3066393" cy="19050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250" b="1" dirty="0">
                  <a:solidFill>
                    <a:srgbClr val="000000"/>
                  </a:solidFill>
                  <a:latin typeface="Arial"/>
                </a:rPr>
                <a:t>Predicted Contour Alignment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693920" y="6126480"/>
            <a:ext cx="7315200" cy="5486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Panel image 1536 × 1536 px, upsampled 2× from the 768 × 768 px source array.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Pixel pitch 0.1441 μm/px, so one panel spans 768 × 0.1441 = 110.67 μm.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Panel placed on this slide at 8.5178 × 8.5178 cm.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Scale bar 20 μm = 20 / 110.67 = 18.07 % of panel width = 8.5178 × 0.1807 = 1.5393 cm.</a:t>
            </a:r>
          </a:p>
        </p:txBody>
      </p:sp>
    </p:spTree>
    <p:extLst>
      <p:ext uri="{BB962C8B-B14F-4D97-AF65-F5344CB8AC3E}">
        <p14:creationId xmlns:p14="http://schemas.microsoft.com/office/powerpoint/2010/main" val="45757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D3558-F23D-8220-BAAE-02381268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D38AB-E9D9-4B7D-5742-1F979839E6A2}"/>
              </a:ext>
            </a:extLst>
          </p:cNvPr>
          <p:cNvSpPr txBox="1"/>
          <p:nvPr/>
        </p:nvSpPr>
        <p:spPr>
          <a:xfrm>
            <a:off x="0" y="0"/>
            <a:ext cx="885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6</a:t>
            </a:r>
            <a:endParaRPr lang="ko-KR" altLang="en-US" sz="1400" b="1" dirty="0"/>
          </a:p>
        </p:txBody>
      </p:sp>
      <p:grpSp>
        <p:nvGrpSpPr>
          <p:cNvPr id="105" name="Figure">
            <a:extLst>
              <a:ext uri="{FF2B5EF4-FFF2-40B4-BE49-F238E27FC236}">
                <a16:creationId xmlns:a16="http://schemas.microsoft.com/office/drawing/2014/main" id="{BB9F1D06-6589-6FFF-C0CD-B12015160743}"/>
              </a:ext>
            </a:extLst>
          </p:cNvPr>
          <p:cNvGrpSpPr/>
          <p:nvPr/>
        </p:nvGrpSpPr>
        <p:grpSpPr>
          <a:xfrm>
            <a:off x="1125984" y="1532060"/>
            <a:ext cx="8135798" cy="1819119"/>
            <a:chOff x="1271214" y="2350204"/>
            <a:chExt cx="9649571" cy="2157590"/>
          </a:xfrm>
        </p:grpSpPr>
        <p:sp>
          <p:nvSpPr>
            <p:cNvPr id="106" name="Figure backing">
              <a:extLst>
                <a:ext uri="{FF2B5EF4-FFF2-40B4-BE49-F238E27FC236}">
                  <a16:creationId xmlns:a16="http://schemas.microsoft.com/office/drawing/2014/main" id="{D66F9333-DB18-BBE8-E8E9-CAE122141D92}"/>
                </a:ext>
              </a:extLst>
            </p:cNvPr>
            <p:cNvSpPr/>
            <p:nvPr/>
          </p:nvSpPr>
          <p:spPr>
            <a:xfrm>
              <a:off x="1271214" y="2350204"/>
              <a:ext cx="9649571" cy="21575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2C2EC0AA-AA38-A092-FE7C-92E9963D0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16934" y="2635954"/>
              <a:ext cx="1826120" cy="1826120"/>
            </a:xfrm>
            <a:prstGeom prst="rect">
              <a:avLst/>
            </a:prstGeom>
          </p:spPr>
        </p:pic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AADC5F4-D86F-18EF-CD54-4E7571204BD5}"/>
                </a:ext>
              </a:extLst>
            </p:cNvPr>
            <p:cNvSpPr/>
            <p:nvPr/>
          </p:nvSpPr>
          <p:spPr>
            <a:xfrm>
              <a:off x="1399109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DF1DB73-7A51-E7B8-AFE6-2069D6EAF615}"/>
                </a:ext>
              </a:extLst>
            </p:cNvPr>
            <p:cNvSpPr txBox="1"/>
            <p:nvPr/>
          </p:nvSpPr>
          <p:spPr>
            <a:xfrm>
              <a:off x="1386263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0952A1F0-8F59-7ED1-DE36-411D44762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49937" y="2635954"/>
              <a:ext cx="1826120" cy="1826120"/>
            </a:xfrm>
            <a:prstGeom prst="rect">
              <a:avLst/>
            </a:prstGeom>
          </p:spPr>
        </p:pic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D1EA859-574B-DA8A-A318-1AE38BB3B638}"/>
                </a:ext>
              </a:extLst>
            </p:cNvPr>
            <p:cNvSpPr/>
            <p:nvPr/>
          </p:nvSpPr>
          <p:spPr>
            <a:xfrm>
              <a:off x="3332112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0709872-3D1E-3018-8D52-717DDDD2F1C5}"/>
                </a:ext>
              </a:extLst>
            </p:cNvPr>
            <p:cNvSpPr txBox="1"/>
            <p:nvPr/>
          </p:nvSpPr>
          <p:spPr>
            <a:xfrm>
              <a:off x="3319266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09354300-8CF8-355C-3778-C6BC9279D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182939" y="2635954"/>
              <a:ext cx="1826120" cy="1826120"/>
            </a:xfrm>
            <a:prstGeom prst="rect">
              <a:avLst/>
            </a:prstGeom>
          </p:spPr>
        </p:pic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C0F2B1F-1DC9-EE45-DF05-ACEC2CC4398C}"/>
                </a:ext>
              </a:extLst>
            </p:cNvPr>
            <p:cNvSpPr/>
            <p:nvPr/>
          </p:nvSpPr>
          <p:spPr>
            <a:xfrm>
              <a:off x="5265115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F6459B-67A6-BFEE-989C-AFB92137CF1C}"/>
                </a:ext>
              </a:extLst>
            </p:cNvPr>
            <p:cNvSpPr txBox="1"/>
            <p:nvPr/>
          </p:nvSpPr>
          <p:spPr>
            <a:xfrm>
              <a:off x="5252269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E0981905-A3CC-A5D9-1139-B46FB9C81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15942" y="2635954"/>
              <a:ext cx="1826120" cy="1826120"/>
            </a:xfrm>
            <a:prstGeom prst="rect">
              <a:avLst/>
            </a:prstGeom>
          </p:spPr>
        </p:pic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D52ADAB-BED0-7AA3-B35A-1AEBACE57A13}"/>
                </a:ext>
              </a:extLst>
            </p:cNvPr>
            <p:cNvSpPr/>
            <p:nvPr/>
          </p:nvSpPr>
          <p:spPr>
            <a:xfrm>
              <a:off x="7198118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BB13212-FF5D-01BC-9258-55E0FA1C602D}"/>
                </a:ext>
              </a:extLst>
            </p:cNvPr>
            <p:cNvSpPr txBox="1"/>
            <p:nvPr/>
          </p:nvSpPr>
          <p:spPr>
            <a:xfrm>
              <a:off x="7185272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3512D223-421A-55D2-EBCA-90F34E1C9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048945" y="2635954"/>
              <a:ext cx="1826120" cy="1826120"/>
            </a:xfrm>
            <a:prstGeom prst="rect">
              <a:avLst/>
            </a:prstGeom>
          </p:spPr>
        </p:pic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163ECEE-30AB-8590-8EAE-CA03237D8D93}"/>
                </a:ext>
              </a:extLst>
            </p:cNvPr>
            <p:cNvSpPr/>
            <p:nvPr/>
          </p:nvSpPr>
          <p:spPr>
            <a:xfrm>
              <a:off x="9131121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1948029-9FE5-30AF-AF85-C1AC25D61741}"/>
                </a:ext>
              </a:extLst>
            </p:cNvPr>
            <p:cNvSpPr txBox="1"/>
            <p:nvPr/>
          </p:nvSpPr>
          <p:spPr>
            <a:xfrm>
              <a:off x="9118275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</p:grpSp>
      <p:grpSp>
        <p:nvGrpSpPr>
          <p:cNvPr id="81" name="Figure"/>
          <p:cNvGrpSpPr/>
          <p:nvPr/>
        </p:nvGrpSpPr>
        <p:grpSpPr>
          <a:xfrm>
            <a:off x="1164532" y="156239"/>
            <a:ext cx="8058703" cy="1539648"/>
            <a:chOff x="1316934" y="2635954"/>
            <a:chExt cx="9558131" cy="1826120"/>
          </a:xfrm>
        </p:grpSpPr>
        <p:pic>
          <p:nvPicPr>
            <p:cNvPr id="83" name="Picture 8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16934" y="2635954"/>
              <a:ext cx="1826120" cy="1826120"/>
            </a:xfrm>
            <a:prstGeom prst="rect">
              <a:avLst/>
            </a:prstGeom>
          </p:spPr>
        </p:pic>
        <p:sp>
          <p:nvSpPr>
            <p:cNvPr id="84" name="Rectangle 83"/>
            <p:cNvSpPr/>
            <p:nvPr/>
          </p:nvSpPr>
          <p:spPr>
            <a:xfrm>
              <a:off x="1399109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386263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87" name="Picture 8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49937" y="2635954"/>
              <a:ext cx="1826120" cy="1826120"/>
            </a:xfrm>
            <a:prstGeom prst="rect">
              <a:avLst/>
            </a:prstGeom>
          </p:spPr>
        </p:pic>
        <p:sp>
          <p:nvSpPr>
            <p:cNvPr id="88" name="Rectangle 87"/>
            <p:cNvSpPr/>
            <p:nvPr/>
          </p:nvSpPr>
          <p:spPr>
            <a:xfrm>
              <a:off x="3332112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319266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182939" y="2635954"/>
              <a:ext cx="1826120" cy="1826120"/>
            </a:xfrm>
            <a:prstGeom prst="rect">
              <a:avLst/>
            </a:prstGeom>
          </p:spPr>
        </p:pic>
        <p:sp>
          <p:nvSpPr>
            <p:cNvPr id="92" name="Rectangle 91"/>
            <p:cNvSpPr/>
            <p:nvPr/>
          </p:nvSpPr>
          <p:spPr>
            <a:xfrm>
              <a:off x="5265115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5252269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15942" y="2635954"/>
              <a:ext cx="1826120" cy="1826120"/>
            </a:xfrm>
            <a:prstGeom prst="rect">
              <a:avLst/>
            </a:prstGeom>
          </p:spPr>
        </p:pic>
        <p:sp>
          <p:nvSpPr>
            <p:cNvPr id="96" name="Rectangle 95"/>
            <p:cNvSpPr/>
            <p:nvPr/>
          </p:nvSpPr>
          <p:spPr>
            <a:xfrm>
              <a:off x="7198118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7185272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99" name="Picture 9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048945" y="2635954"/>
              <a:ext cx="1826120" cy="1826120"/>
            </a:xfrm>
            <a:prstGeom prst="rect">
              <a:avLst/>
            </a:prstGeom>
          </p:spPr>
        </p:pic>
        <p:sp>
          <p:nvSpPr>
            <p:cNvPr id="100" name="Rectangle 99"/>
            <p:cNvSpPr/>
            <p:nvPr/>
          </p:nvSpPr>
          <p:spPr>
            <a:xfrm>
              <a:off x="9131121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9118275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</p:grpSp>
      <p:grpSp>
        <p:nvGrpSpPr>
          <p:cNvPr id="151" name="Figure">
            <a:extLst>
              <a:ext uri="{FF2B5EF4-FFF2-40B4-BE49-F238E27FC236}">
                <a16:creationId xmlns:a16="http://schemas.microsoft.com/office/drawing/2014/main" id="{C08798BC-4471-A1B4-0E9D-12884246C598}"/>
              </a:ext>
            </a:extLst>
          </p:cNvPr>
          <p:cNvGrpSpPr/>
          <p:nvPr/>
        </p:nvGrpSpPr>
        <p:grpSpPr>
          <a:xfrm>
            <a:off x="1180681" y="3389727"/>
            <a:ext cx="8058705" cy="1539648"/>
            <a:chOff x="1316934" y="2635954"/>
            <a:chExt cx="9558131" cy="1826120"/>
          </a:xfrm>
        </p:grpSpPr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CE44B98F-3381-3AEB-F00B-F867BFED9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16934" y="2635954"/>
              <a:ext cx="1826120" cy="1826120"/>
            </a:xfrm>
            <a:prstGeom prst="rect">
              <a:avLst/>
            </a:prstGeom>
          </p:spPr>
        </p:pic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972E2E9-8449-BAB4-19DF-EC03961FF6F8}"/>
                </a:ext>
              </a:extLst>
            </p:cNvPr>
            <p:cNvSpPr/>
            <p:nvPr/>
          </p:nvSpPr>
          <p:spPr>
            <a:xfrm>
              <a:off x="1399109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62ADD37-D3E4-1DE6-B54D-B0566AFF45C6}"/>
                </a:ext>
              </a:extLst>
            </p:cNvPr>
            <p:cNvSpPr txBox="1"/>
            <p:nvPr/>
          </p:nvSpPr>
          <p:spPr>
            <a:xfrm>
              <a:off x="1386263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6D920B53-B480-014B-FBDF-9D442302E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49937" y="2635954"/>
              <a:ext cx="1826120" cy="1826120"/>
            </a:xfrm>
            <a:prstGeom prst="rect">
              <a:avLst/>
            </a:prstGeom>
          </p:spPr>
        </p:pic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FF35952D-F960-0E94-3063-496C4E992199}"/>
                </a:ext>
              </a:extLst>
            </p:cNvPr>
            <p:cNvSpPr/>
            <p:nvPr/>
          </p:nvSpPr>
          <p:spPr>
            <a:xfrm>
              <a:off x="3332112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2A2F110C-5EA4-4FD0-2882-0431703B071E}"/>
                </a:ext>
              </a:extLst>
            </p:cNvPr>
            <p:cNvSpPr txBox="1"/>
            <p:nvPr/>
          </p:nvSpPr>
          <p:spPr>
            <a:xfrm>
              <a:off x="3319266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F3B54909-8663-04D4-9D42-7C4994465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182939" y="2635954"/>
              <a:ext cx="1826120" cy="1826120"/>
            </a:xfrm>
            <a:prstGeom prst="rect">
              <a:avLst/>
            </a:prstGeom>
          </p:spPr>
        </p:pic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6FAED5CD-41A4-A966-492B-CC655636EF60}"/>
                </a:ext>
              </a:extLst>
            </p:cNvPr>
            <p:cNvSpPr/>
            <p:nvPr/>
          </p:nvSpPr>
          <p:spPr>
            <a:xfrm>
              <a:off x="5265115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E08E067D-DAE5-4BB5-E0FF-F7B8FB4BEC95}"/>
                </a:ext>
              </a:extLst>
            </p:cNvPr>
            <p:cNvSpPr txBox="1"/>
            <p:nvPr/>
          </p:nvSpPr>
          <p:spPr>
            <a:xfrm>
              <a:off x="5252269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C46215D5-2020-AB6D-D7C3-EA90B09D3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15942" y="2635954"/>
              <a:ext cx="1826120" cy="1826120"/>
            </a:xfrm>
            <a:prstGeom prst="rect">
              <a:avLst/>
            </a:prstGeom>
          </p:spPr>
        </p:pic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34C1141-C135-9751-C24E-DB52D90D01A6}"/>
                </a:ext>
              </a:extLst>
            </p:cNvPr>
            <p:cNvSpPr/>
            <p:nvPr/>
          </p:nvSpPr>
          <p:spPr>
            <a:xfrm>
              <a:off x="7198118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FEE83B5-F00D-D141-90AB-AC8153203F0F}"/>
                </a:ext>
              </a:extLst>
            </p:cNvPr>
            <p:cNvSpPr txBox="1"/>
            <p:nvPr/>
          </p:nvSpPr>
          <p:spPr>
            <a:xfrm>
              <a:off x="7185272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4054311A-676C-2CA0-5D6E-AAEDB5FFF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048945" y="2635954"/>
              <a:ext cx="1826120" cy="1826120"/>
            </a:xfrm>
            <a:prstGeom prst="rect">
              <a:avLst/>
            </a:prstGeom>
          </p:spPr>
        </p:pic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9A78CD2-EECA-BF4C-E5D4-C494162316AC}"/>
                </a:ext>
              </a:extLst>
            </p:cNvPr>
            <p:cNvSpPr/>
            <p:nvPr/>
          </p:nvSpPr>
          <p:spPr>
            <a:xfrm>
              <a:off x="9131121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D707982B-F88C-9A8A-204C-31FEC4495FE2}"/>
                </a:ext>
              </a:extLst>
            </p:cNvPr>
            <p:cNvSpPr txBox="1"/>
            <p:nvPr/>
          </p:nvSpPr>
          <p:spPr>
            <a:xfrm>
              <a:off x="9118275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</p:grpSp>
      <p:grpSp>
        <p:nvGrpSpPr>
          <p:cNvPr id="168" name="Figure">
            <a:extLst>
              <a:ext uri="{FF2B5EF4-FFF2-40B4-BE49-F238E27FC236}">
                <a16:creationId xmlns:a16="http://schemas.microsoft.com/office/drawing/2014/main" id="{0FF361DF-621E-2304-69A4-34B794DB4871}"/>
              </a:ext>
            </a:extLst>
          </p:cNvPr>
          <p:cNvGrpSpPr/>
          <p:nvPr/>
        </p:nvGrpSpPr>
        <p:grpSpPr>
          <a:xfrm>
            <a:off x="1164529" y="5068612"/>
            <a:ext cx="8058705" cy="1539648"/>
            <a:chOff x="1316934" y="2635954"/>
            <a:chExt cx="9558131" cy="1826120"/>
          </a:xfrm>
        </p:grpSpPr>
        <p:pic>
          <p:nvPicPr>
            <p:cNvPr id="169" name="Picture 168">
              <a:extLst>
                <a:ext uri="{FF2B5EF4-FFF2-40B4-BE49-F238E27FC236}">
                  <a16:creationId xmlns:a16="http://schemas.microsoft.com/office/drawing/2014/main" id="{9EA0859E-E8EF-C624-F759-F12687D53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16934" y="2635954"/>
              <a:ext cx="1826120" cy="1826120"/>
            </a:xfrm>
            <a:prstGeom prst="rect">
              <a:avLst/>
            </a:prstGeom>
          </p:spPr>
        </p:pic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ED1531F6-E1E4-C980-1822-F4571D444C5C}"/>
                </a:ext>
              </a:extLst>
            </p:cNvPr>
            <p:cNvSpPr/>
            <p:nvPr/>
          </p:nvSpPr>
          <p:spPr>
            <a:xfrm>
              <a:off x="1399109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5000C06-3DA8-E5D6-0F6C-048F0A6276D0}"/>
                </a:ext>
              </a:extLst>
            </p:cNvPr>
            <p:cNvSpPr txBox="1"/>
            <p:nvPr/>
          </p:nvSpPr>
          <p:spPr>
            <a:xfrm>
              <a:off x="1386263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72" name="Picture 171">
              <a:extLst>
                <a:ext uri="{FF2B5EF4-FFF2-40B4-BE49-F238E27FC236}">
                  <a16:creationId xmlns:a16="http://schemas.microsoft.com/office/drawing/2014/main" id="{4F1A56DD-F9ED-9E34-4946-18C753835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49937" y="2635954"/>
              <a:ext cx="1826120" cy="1826120"/>
            </a:xfrm>
            <a:prstGeom prst="rect">
              <a:avLst/>
            </a:prstGeom>
          </p:spPr>
        </p:pic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4FB30870-12FD-0E92-8283-BA6102EE2A56}"/>
                </a:ext>
              </a:extLst>
            </p:cNvPr>
            <p:cNvSpPr/>
            <p:nvPr/>
          </p:nvSpPr>
          <p:spPr>
            <a:xfrm>
              <a:off x="3332112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51EA4B18-13F6-F1D5-665D-E965E0AA27E7}"/>
                </a:ext>
              </a:extLst>
            </p:cNvPr>
            <p:cNvSpPr txBox="1"/>
            <p:nvPr/>
          </p:nvSpPr>
          <p:spPr>
            <a:xfrm>
              <a:off x="3319266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D322D067-FBD1-662D-0ED4-49FFE4041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182939" y="2635954"/>
              <a:ext cx="1826120" cy="1826120"/>
            </a:xfrm>
            <a:prstGeom prst="rect">
              <a:avLst/>
            </a:prstGeom>
          </p:spPr>
        </p:pic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EA4B6CB-72DE-2A67-E4EB-CB6D83EBDF88}"/>
                </a:ext>
              </a:extLst>
            </p:cNvPr>
            <p:cNvSpPr/>
            <p:nvPr/>
          </p:nvSpPr>
          <p:spPr>
            <a:xfrm>
              <a:off x="5265115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8219797-26DE-7C9A-6E75-2A41246E0BD1}"/>
                </a:ext>
              </a:extLst>
            </p:cNvPr>
            <p:cNvSpPr txBox="1"/>
            <p:nvPr/>
          </p:nvSpPr>
          <p:spPr>
            <a:xfrm>
              <a:off x="5252269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83448A2B-13F8-B382-D6F7-6912B7985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15942" y="2635954"/>
              <a:ext cx="1826120" cy="1826120"/>
            </a:xfrm>
            <a:prstGeom prst="rect">
              <a:avLst/>
            </a:prstGeom>
          </p:spPr>
        </p:pic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DABDA7F-D9DC-0824-AF46-1C147FDDEB6E}"/>
                </a:ext>
              </a:extLst>
            </p:cNvPr>
            <p:cNvSpPr/>
            <p:nvPr/>
          </p:nvSpPr>
          <p:spPr>
            <a:xfrm>
              <a:off x="7198118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CEB94C34-6199-3966-D093-A87D8158632C}"/>
                </a:ext>
              </a:extLst>
            </p:cNvPr>
            <p:cNvSpPr txBox="1"/>
            <p:nvPr/>
          </p:nvSpPr>
          <p:spPr>
            <a:xfrm>
              <a:off x="7185272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181" name="Picture 180">
              <a:extLst>
                <a:ext uri="{FF2B5EF4-FFF2-40B4-BE49-F238E27FC236}">
                  <a16:creationId xmlns:a16="http://schemas.microsoft.com/office/drawing/2014/main" id="{9BED59F3-C740-E518-7BB5-8695699D0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048945" y="2635954"/>
              <a:ext cx="1826120" cy="1826120"/>
            </a:xfrm>
            <a:prstGeom prst="rect">
              <a:avLst/>
            </a:prstGeom>
          </p:spPr>
        </p:pic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FF450EAB-0317-38DF-CCAA-CF5A418B48CC}"/>
                </a:ext>
              </a:extLst>
            </p:cNvPr>
            <p:cNvSpPr/>
            <p:nvPr/>
          </p:nvSpPr>
          <p:spPr>
            <a:xfrm>
              <a:off x="9131121" y="4325035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DC7E9EFD-D45E-2C8B-44F5-17B5285521B5}"/>
                </a:ext>
              </a:extLst>
            </p:cNvPr>
            <p:cNvSpPr txBox="1"/>
            <p:nvPr/>
          </p:nvSpPr>
          <p:spPr>
            <a:xfrm>
              <a:off x="9118275" y="4093387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840871" y="6218399"/>
            <a:ext cx="7315200" cy="5486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r>
              <a:rPr sz="1000" b="0" dirty="0">
                <a:latin typeface="Arial"/>
              </a:rPr>
              <a:t>Panel image 1536 × 1536 </a:t>
            </a:r>
            <a:r>
              <a:rPr sz="1000" b="0" dirty="0" err="1">
                <a:latin typeface="Arial"/>
              </a:rPr>
              <a:t>px</a:t>
            </a:r>
            <a:r>
              <a:rPr sz="1000" b="0" dirty="0">
                <a:latin typeface="Arial"/>
              </a:rPr>
              <a:t>, </a:t>
            </a:r>
            <a:r>
              <a:rPr sz="1000" b="0" dirty="0" err="1">
                <a:latin typeface="Arial"/>
              </a:rPr>
              <a:t>upsampled</a:t>
            </a:r>
            <a:r>
              <a:rPr sz="1000" b="0" dirty="0">
                <a:latin typeface="Arial"/>
              </a:rPr>
              <a:t> 2× from the 768 × 768 </a:t>
            </a:r>
            <a:r>
              <a:rPr sz="1000" b="0" dirty="0" err="1">
                <a:latin typeface="Arial"/>
              </a:rPr>
              <a:t>px</a:t>
            </a:r>
            <a:r>
              <a:rPr sz="1000" b="0" dirty="0">
                <a:latin typeface="Arial"/>
              </a:rPr>
              <a:t> source array.</a:t>
            </a:r>
          </a:p>
          <a:p>
            <a:pPr algn="r"/>
            <a:r>
              <a:rPr sz="1000" b="0" dirty="0">
                <a:latin typeface="Arial"/>
              </a:rPr>
              <a:t>Pixel pitch 0.1441 </a:t>
            </a:r>
            <a:r>
              <a:rPr sz="1000" b="0" dirty="0" err="1">
                <a:latin typeface="Arial"/>
              </a:rPr>
              <a:t>μm</a:t>
            </a:r>
            <a:r>
              <a:rPr sz="1000" b="0" dirty="0">
                <a:latin typeface="Arial"/>
              </a:rPr>
              <a:t>/</a:t>
            </a:r>
            <a:r>
              <a:rPr sz="1000" b="0" dirty="0" err="1">
                <a:latin typeface="Arial"/>
              </a:rPr>
              <a:t>px</a:t>
            </a:r>
            <a:r>
              <a:rPr sz="1000" b="0" dirty="0">
                <a:latin typeface="Arial"/>
              </a:rPr>
              <a:t>, so one panel spans 768 × 0.1441 = 110.67 </a:t>
            </a:r>
            <a:r>
              <a:rPr sz="1000" b="0" dirty="0" err="1">
                <a:latin typeface="Arial"/>
              </a:rPr>
              <a:t>μm</a:t>
            </a:r>
            <a:r>
              <a:rPr sz="1000" b="0" dirty="0">
                <a:latin typeface="Arial"/>
              </a:rPr>
              <a:t>.</a:t>
            </a:r>
          </a:p>
          <a:p>
            <a:pPr algn="r"/>
            <a:r>
              <a:rPr sz="1000" b="0" dirty="0">
                <a:latin typeface="Arial"/>
              </a:rPr>
              <a:t>Panel placed on this slide at 5.0726 × 5.0726 cm.</a:t>
            </a:r>
          </a:p>
          <a:p>
            <a:pPr algn="r"/>
            <a:r>
              <a:rPr sz="1000" b="0" dirty="0">
                <a:latin typeface="Arial"/>
              </a:rPr>
              <a:t>Scale bar 20 </a:t>
            </a:r>
            <a:r>
              <a:rPr sz="1000" b="0" dirty="0" err="1">
                <a:latin typeface="Arial"/>
              </a:rPr>
              <a:t>μm</a:t>
            </a:r>
            <a:r>
              <a:rPr sz="1000" b="0" dirty="0">
                <a:latin typeface="Arial"/>
              </a:rPr>
              <a:t> = 20 / 110.67 = 18.07 % of panel width = 5.0726 × 0.1807 = 0.9167 cm.</a:t>
            </a:r>
          </a:p>
        </p:txBody>
      </p:sp>
    </p:spTree>
    <p:extLst>
      <p:ext uri="{BB962C8B-B14F-4D97-AF65-F5344CB8AC3E}">
        <p14:creationId xmlns:p14="http://schemas.microsoft.com/office/powerpoint/2010/main" val="100329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325BF-4D3F-2052-9922-A11B14F6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A08B9-ECEC-0696-53ED-31648B8A63D7}"/>
              </a:ext>
            </a:extLst>
          </p:cNvPr>
          <p:cNvSpPr txBox="1"/>
          <p:nvPr/>
        </p:nvSpPr>
        <p:spPr>
          <a:xfrm>
            <a:off x="0" y="0"/>
            <a:ext cx="990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</a:t>
            </a:r>
            <a:r>
              <a:rPr lang="ko-KR" altLang="en-US" sz="1400" b="1" dirty="0"/>
              <a:t> </a:t>
            </a:r>
            <a:r>
              <a:rPr lang="en-US" altLang="ko-KR" sz="1400" b="1"/>
              <a:t>1</a:t>
            </a:r>
            <a:r>
              <a:rPr lang="en-US" altLang="ko-KR" sz="1400" b="1" dirty="0"/>
              <a:t>1</a:t>
            </a:r>
            <a:endParaRPr lang="ko-KR" altLang="en-US" sz="1400" b="1" dirty="0"/>
          </a:p>
        </p:txBody>
      </p:sp>
      <p:grpSp>
        <p:nvGrpSpPr>
          <p:cNvPr id="41" name="Figure"/>
          <p:cNvGrpSpPr/>
          <p:nvPr/>
        </p:nvGrpSpPr>
        <p:grpSpPr>
          <a:xfrm>
            <a:off x="1271214" y="1280381"/>
            <a:ext cx="9649571" cy="4297237"/>
            <a:chOff x="1271214" y="1280381"/>
            <a:chExt cx="9649571" cy="4297237"/>
          </a:xfrm>
        </p:grpSpPr>
        <p:sp>
          <p:nvSpPr>
            <p:cNvPr id="40" name="Figure backing"/>
            <p:cNvSpPr/>
            <p:nvPr/>
          </p:nvSpPr>
          <p:spPr>
            <a:xfrm>
              <a:off x="1271214" y="1280381"/>
              <a:ext cx="9649571" cy="42972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316934" y="1326101"/>
              <a:ext cx="9558131" cy="24384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600" b="1">
                  <a:solidFill>
                    <a:srgbClr val="000000"/>
                  </a:solidFill>
                  <a:latin typeface="Arial"/>
                </a:rPr>
                <a:t>Storage Lesion Timeline: RBC Morphology Degradation Over Storage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316934" y="1840451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" name="Rectangle 4"/>
            <p:cNvSpPr/>
            <p:nvPr/>
          </p:nvSpPr>
          <p:spPr>
            <a:xfrm>
              <a:off x="1399109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86263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16934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249937" y="1840451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3332112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19266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49937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8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82939" y="1840451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65115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52269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82939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19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115942" y="1840451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198118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85272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15942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27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48945" y="1840451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131121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118275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048945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47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316934" y="3705778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399109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386263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249937" y="3705778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332112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319266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182939" y="3705778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265115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252269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115942" y="3705778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98118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185272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048945" y="3705778"/>
              <a:ext cx="1826120" cy="18261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131121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18275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693920" y="5989320"/>
            <a:ext cx="7315200" cy="6858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Panels are grey placeholders: the dataset needed to render them is not in the project.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Panel image 1536 × 1536 px, upsampled 2× from the 768 × 768 px source array.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Pixel pitch 0.1441 μm/px, so one panel spans 768 × 0.1441 = 110.67 μm.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Panel placed on this slide at 5.0726 × 5.0726 cm.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Scale bar 20 μm = 20 / 110.67 = 18.07 % of panel width = 5.0726 × 0.1807 = 0.9167 cm.</a:t>
            </a:r>
          </a:p>
        </p:txBody>
      </p:sp>
    </p:spTree>
    <p:extLst>
      <p:ext uri="{BB962C8B-B14F-4D97-AF65-F5344CB8AC3E}">
        <p14:creationId xmlns:p14="http://schemas.microsoft.com/office/powerpoint/2010/main" val="401749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6723</TotalTime>
  <Words>626</Words>
  <Application>Microsoft Office PowerPoint</Application>
  <PresentationFormat>Widescreen</PresentationFormat>
  <Paragraphs>143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Cambria Math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보현</dc:creator>
  <cp:lastModifiedBy>Usama Ikram</cp:lastModifiedBy>
  <cp:revision>39</cp:revision>
  <dcterms:created xsi:type="dcterms:W3CDTF">2026-08-13T10:14:49Z</dcterms:created>
  <dcterms:modified xsi:type="dcterms:W3CDTF">2026-10-29T09:04:16Z</dcterms:modified>
</cp:coreProperties>
</file>