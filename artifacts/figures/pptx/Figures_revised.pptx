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4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A02C"/>
    <a:srgbClr val="D62728"/>
    <a:srgbClr val="FF7F0E"/>
    <a:srgbClr val="1F77B4"/>
    <a:srgbClr val="004B94"/>
    <a:srgbClr val="2081BD"/>
    <a:srgbClr val="F0F8FE"/>
    <a:srgbClr val="E8F4FE"/>
    <a:srgbClr val="004182"/>
    <a:srgbClr val="3975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64" autoAdjust="0"/>
    <p:restoredTop sz="94660"/>
  </p:normalViewPr>
  <p:slideViewPr>
    <p:cSldViewPr snapToGrid="0">
      <p:cViewPr>
        <p:scale>
          <a:sx n="75" d="100"/>
          <a:sy n="75" d="100"/>
        </p:scale>
        <p:origin x="1368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A99CD-E19D-4CAB-A6D6-8C5E703F8825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AC6F-C726-443A-82E7-57F3C2430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919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A99CD-E19D-4CAB-A6D6-8C5E703F8825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AC6F-C726-443A-82E7-57F3C2430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9668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A99CD-E19D-4CAB-A6D6-8C5E703F8825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AC6F-C726-443A-82E7-57F3C2430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112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A99CD-E19D-4CAB-A6D6-8C5E703F8825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AC6F-C726-443A-82E7-57F3C2430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5660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A99CD-E19D-4CAB-A6D6-8C5E703F8825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AC6F-C726-443A-82E7-57F3C2430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0136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A99CD-E19D-4CAB-A6D6-8C5E703F8825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AC6F-C726-443A-82E7-57F3C2430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67164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A99CD-E19D-4CAB-A6D6-8C5E703F8825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AC6F-C726-443A-82E7-57F3C2430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5795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A99CD-E19D-4CAB-A6D6-8C5E703F8825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AC6F-C726-443A-82E7-57F3C2430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179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A99CD-E19D-4CAB-A6D6-8C5E703F8825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AC6F-C726-443A-82E7-57F3C2430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149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A99CD-E19D-4CAB-A6D6-8C5E703F8825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AC6F-C726-443A-82E7-57F3C2430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4854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A99CD-E19D-4CAB-A6D6-8C5E703F8825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AC6F-C726-443A-82E7-57F3C2430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806898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A99CD-E19D-4CAB-A6D6-8C5E703F8825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6AC6F-C726-443A-82E7-57F3C2430E7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336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microsoft.com/office/2007/relationships/hdphoto" Target="../media/hdphoto1.wdp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microsoft.com/office/2007/relationships/hdphoto" Target="../media/hdphoto2.wdp"/><Relationship Id="rId19" Type="http://schemas.openxmlformats.org/officeDocument/2006/relationships/image" Target="../media/image16.png"/><Relationship Id="rId20" Type="http://schemas.openxmlformats.org/officeDocument/2006/relationships/image" Target="../media/image17.png"/><Relationship Id="rId21" Type="http://schemas.openxmlformats.org/officeDocument/2006/relationships/image" Target="../media/image18.png"/><Relationship Id="rId22" Type="http://schemas.openxmlformats.org/officeDocument/2006/relationships/image" Target="../media/image19.png"/><Relationship Id="rId23" Type="http://schemas.openxmlformats.org/officeDocument/2006/relationships/image" Target="../media/image20.png"/><Relationship Id="rId24" Type="http://schemas.openxmlformats.org/officeDocument/2006/relationships/image" Target="../media/image21.png"/><Relationship Id="rId25" Type="http://schemas.openxmlformats.org/officeDocument/2006/relationships/image" Target="../media/image22.png"/><Relationship Id="rId26" Type="http://schemas.openxmlformats.org/officeDocument/2006/relationships/image" Target="../media/image23.png"/><Relationship Id="rId27" Type="http://schemas.openxmlformats.org/officeDocument/2006/relationships/image" Target="../media/image24.png"/><Relationship Id="rId28" Type="http://schemas.openxmlformats.org/officeDocument/2006/relationships/image" Target="../media/image25.png"/><Relationship Id="rId29" Type="http://schemas.openxmlformats.org/officeDocument/2006/relationships/image" Target="../media/image26.png"/><Relationship Id="rId30" Type="http://schemas.openxmlformats.org/officeDocument/2006/relationships/image" Target="../media/image27.png"/><Relationship Id="rId31" Type="http://schemas.openxmlformats.org/officeDocument/2006/relationships/image" Target="../media/image28.png"/><Relationship Id="rId32" Type="http://schemas.openxmlformats.org/officeDocument/2006/relationships/image" Target="../media/image37.png"/><Relationship Id="rId33" Type="http://schemas.openxmlformats.org/officeDocument/2006/relationships/image" Target="../media/image38.png"/><Relationship Id="rId34" Type="http://schemas.openxmlformats.org/officeDocument/2006/relationships/image" Target="../media/image39.png"/><Relationship Id="rId35" Type="http://schemas.openxmlformats.org/officeDocument/2006/relationships/image" Target="../media/image4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9.png"/><Relationship Id="rId13" Type="http://schemas.openxmlformats.org/officeDocument/2006/relationships/image" Target="../media/image50.png"/><Relationship Id="rId14" Type="http://schemas.openxmlformats.org/officeDocument/2006/relationships/image" Target="../media/image51.png"/><Relationship Id="rId15" Type="http://schemas.openxmlformats.org/officeDocument/2006/relationships/image" Target="../media/image52.png"/><Relationship Id="rId16" Type="http://schemas.openxmlformats.org/officeDocument/2006/relationships/image" Target="../media/image53.png"/><Relationship Id="rId17" Type="http://schemas.openxmlformats.org/officeDocument/2006/relationships/image" Target="../media/image54.png"/><Relationship Id="rId18" Type="http://schemas.openxmlformats.org/officeDocument/2006/relationships/image" Target="../media/image55.png"/><Relationship Id="rId19" Type="http://schemas.openxmlformats.org/officeDocument/2006/relationships/image" Target="../media/image56.png"/><Relationship Id="rId20" Type="http://schemas.openxmlformats.org/officeDocument/2006/relationships/image" Target="../media/image57.png"/><Relationship Id="rId21" Type="http://schemas.openxmlformats.org/officeDocument/2006/relationships/image" Target="../media/image58.png"/><Relationship Id="rId22" Type="http://schemas.openxmlformats.org/officeDocument/2006/relationships/image" Target="../media/image59.png"/><Relationship Id="rId23" Type="http://schemas.openxmlformats.org/officeDocument/2006/relationships/image" Target="../media/image60.png"/><Relationship Id="rId24" Type="http://schemas.openxmlformats.org/officeDocument/2006/relationships/image" Target="../media/image61.png"/><Relationship Id="rId25" Type="http://schemas.openxmlformats.org/officeDocument/2006/relationships/image" Target="../media/image62.png"/><Relationship Id="rId26" Type="http://schemas.openxmlformats.org/officeDocument/2006/relationships/image" Target="../media/image63.png"/><Relationship Id="rId27" Type="http://schemas.openxmlformats.org/officeDocument/2006/relationships/image" Target="../media/image64.png"/><Relationship Id="rId28" Type="http://schemas.openxmlformats.org/officeDocument/2006/relationships/image" Target="../media/image65.png"/><Relationship Id="rId29" Type="http://schemas.openxmlformats.org/officeDocument/2006/relationships/image" Target="../media/image66.png"/><Relationship Id="rId30" Type="http://schemas.openxmlformats.org/officeDocument/2006/relationships/image" Target="../media/image6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image" Target="../media/image75.png"/><Relationship Id="rId10" Type="http://schemas.openxmlformats.org/officeDocument/2006/relationships/image" Target="../media/image76.png"/><Relationship Id="rId11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Figure"/>
          <p:cNvGrpSpPr/>
          <p:nvPr/>
        </p:nvGrpSpPr>
        <p:grpSpPr>
          <a:xfrm>
            <a:off x="95760" y="243650"/>
            <a:ext cx="11948866" cy="6435758"/>
            <a:chOff x="95760" y="243650"/>
            <a:chExt cx="11948866" cy="6435758"/>
          </a:xfrm>
        </p:grpSpPr>
        <p:sp>
          <p:nvSpPr>
            <p:cNvPr id="1061" name="Figure backing"/>
            <p:cNvSpPr/>
            <p:nvPr/>
          </p:nvSpPr>
          <p:spPr>
            <a:xfrm>
              <a:off x="95760" y="243650"/>
              <a:ext cx="11948866" cy="643575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A25BD1D9-F8DE-5427-5669-FD1BB9C3C098}"/>
                </a:ext>
              </a:extLst>
            </p:cNvPr>
            <p:cNvGrpSpPr/>
            <p:nvPr/>
          </p:nvGrpSpPr>
          <p:grpSpPr>
            <a:xfrm>
              <a:off x="141480" y="257399"/>
              <a:ext cx="11955893" cy="6408261"/>
              <a:chOff x="141480" y="257399"/>
              <a:chExt cx="11955893" cy="6408261"/>
            </a:xfrm>
          </p:grpSpPr>
          <p:grpSp>
            <p:nvGrpSpPr>
              <p:cNvPr id="2" name="그룹 1">
                <a:extLst>
                  <a:ext uri="{FF2B5EF4-FFF2-40B4-BE49-F238E27FC236}">
                    <a16:creationId xmlns:a16="http://schemas.microsoft.com/office/drawing/2014/main" id="{A7194EEE-141D-716C-81D9-9EDDD9F9A1EF}"/>
                  </a:ext>
                </a:extLst>
              </p:cNvPr>
              <p:cNvGrpSpPr/>
              <p:nvPr/>
            </p:nvGrpSpPr>
            <p:grpSpPr>
              <a:xfrm>
                <a:off x="141480" y="289370"/>
                <a:ext cx="11955893" cy="6344318"/>
                <a:chOff x="164759" y="276206"/>
                <a:chExt cx="11955893" cy="6344318"/>
              </a:xfrm>
            </p:grpSpPr>
            <p:sp>
              <p:nvSpPr>
                <p:cNvPr id="7" name="Rounded Rectangle 6"/>
                <p:cNvSpPr/>
                <p:nvPr/>
              </p:nvSpPr>
              <p:spPr>
                <a:xfrm>
                  <a:off x="2168185" y="665181"/>
                  <a:ext cx="2696511" cy="5598225"/>
                </a:xfrm>
                <a:prstGeom prst="roundRect">
                  <a:avLst>
                    <a:gd name="adj" fmla="val 3949"/>
                  </a:avLst>
                </a:prstGeom>
                <a:solidFill>
                  <a:srgbClr val="A1E5FD">
                    <a:alpha val="9804"/>
                  </a:srgbClr>
                </a:solidFill>
                <a:ln w="15875">
                  <a:solidFill>
                    <a:srgbClr val="009BC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p:sp>
              <p:nvSpPr>
                <p:cNvPr id="30" name="Rounded Rectangle 29"/>
                <p:cNvSpPr/>
                <p:nvPr/>
              </p:nvSpPr>
              <p:spPr>
                <a:xfrm>
                  <a:off x="2291960" y="3194118"/>
                  <a:ext cx="2448961" cy="2904699"/>
                </a:xfrm>
                <a:prstGeom prst="roundRect">
                  <a:avLst>
                    <a:gd name="adj" fmla="val 2399"/>
                  </a:avLst>
                </a:prstGeom>
                <a:solidFill>
                  <a:schemeClr val="bg1"/>
                </a:solidFill>
                <a:ln w="15875">
                  <a:solidFill>
                    <a:srgbClr val="039AC3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250" name="화살표: 오른쪽 189">
                  <a:extLst>
                    <a:ext uri="{FF2B5EF4-FFF2-40B4-BE49-F238E27FC236}">
                      <a16:creationId xmlns:a16="http://schemas.microsoft.com/office/drawing/2014/main" id="{19AAE64E-F8B8-7AA3-184B-10928C7D51F3}"/>
                    </a:ext>
                  </a:extLst>
                </p:cNvPr>
                <p:cNvSpPr/>
                <p:nvPr/>
              </p:nvSpPr>
              <p:spPr>
                <a:xfrm>
                  <a:off x="9603943" y="4457943"/>
                  <a:ext cx="211343" cy="269910"/>
                </a:xfrm>
                <a:prstGeom prst="rightArrow">
                  <a:avLst>
                    <a:gd name="adj1" fmla="val 45716"/>
                    <a:gd name="adj2" fmla="val 50000"/>
                  </a:avLst>
                </a:prstGeom>
                <a:solidFill>
                  <a:srgbClr val="004B94"/>
                </a:solidFill>
                <a:ln w="6350">
                  <a:noFill/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49" name="화살표: 오른쪽 189">
                  <a:extLst>
                    <a:ext uri="{FF2B5EF4-FFF2-40B4-BE49-F238E27FC236}">
                      <a16:creationId xmlns:a16="http://schemas.microsoft.com/office/drawing/2014/main" id="{19AAE64E-F8B8-7AA3-184B-10928C7D51F3}"/>
                    </a:ext>
                  </a:extLst>
                </p:cNvPr>
                <p:cNvSpPr/>
                <p:nvPr/>
              </p:nvSpPr>
              <p:spPr>
                <a:xfrm>
                  <a:off x="4864355" y="2039348"/>
                  <a:ext cx="211343" cy="269910"/>
                </a:xfrm>
                <a:prstGeom prst="rightArrow">
                  <a:avLst>
                    <a:gd name="adj1" fmla="val 45716"/>
                    <a:gd name="adj2" fmla="val 50000"/>
                  </a:avLst>
                </a:prstGeom>
                <a:solidFill>
                  <a:srgbClr val="029BC2"/>
                </a:solidFill>
                <a:ln w="6350">
                  <a:noFill/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" name="Rounded Rectangle 9"/>
                <p:cNvSpPr/>
                <p:nvPr/>
              </p:nvSpPr>
              <p:spPr>
                <a:xfrm>
                  <a:off x="5076686" y="665181"/>
                  <a:ext cx="2166050" cy="5598225"/>
                </a:xfrm>
                <a:prstGeom prst="roundRect">
                  <a:avLst>
                    <a:gd name="adj" fmla="val 5889"/>
                  </a:avLst>
                </a:prstGeom>
                <a:solidFill>
                  <a:srgbClr val="D8DEF0">
                    <a:alpha val="20000"/>
                  </a:srgbClr>
                </a:solidFill>
                <a:ln w="15875">
                  <a:solidFill>
                    <a:srgbClr val="2081BD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p:sp>
              <p:nvSpPr>
                <p:cNvPr id="175" name="화살표: 오른쪽 189">
                  <a:extLst>
                    <a:ext uri="{FF2B5EF4-FFF2-40B4-BE49-F238E27FC236}">
                      <a16:creationId xmlns:a16="http://schemas.microsoft.com/office/drawing/2014/main" id="{19AAE64E-F8B8-7AA3-184B-10928C7D51F3}"/>
                    </a:ext>
                  </a:extLst>
                </p:cNvPr>
                <p:cNvSpPr/>
                <p:nvPr/>
              </p:nvSpPr>
              <p:spPr>
                <a:xfrm rot="5400000">
                  <a:off x="6019456" y="2980058"/>
                  <a:ext cx="289350" cy="269910"/>
                </a:xfrm>
                <a:prstGeom prst="rightArrow">
                  <a:avLst>
                    <a:gd name="adj1" fmla="val 45716"/>
                    <a:gd name="adj2" fmla="val 50000"/>
                  </a:avLst>
                </a:prstGeom>
                <a:gradFill flip="none" rotWithShape="1">
                  <a:gsLst>
                    <a:gs pos="0">
                      <a:srgbClr val="516DB3">
                        <a:alpha val="0"/>
                      </a:srgbClr>
                    </a:gs>
                    <a:gs pos="100000">
                      <a:srgbClr val="516DB3"/>
                    </a:gs>
                  </a:gsLst>
                  <a:lin ang="0" scaled="1"/>
                  <a:tileRect/>
                </a:gradFill>
                <a:ln w="6350">
                  <a:noFill/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6" name="Rounded Rectangle 15"/>
                <p:cNvSpPr/>
                <p:nvPr/>
              </p:nvSpPr>
              <p:spPr>
                <a:xfrm>
                  <a:off x="9829590" y="665181"/>
                  <a:ext cx="2192595" cy="5598225"/>
                </a:xfrm>
                <a:prstGeom prst="roundRect">
                  <a:avLst>
                    <a:gd name="adj" fmla="val 4980"/>
                  </a:avLst>
                </a:prstGeom>
                <a:solidFill>
                  <a:srgbClr val="E7EDF9">
                    <a:alpha val="20000"/>
                  </a:srgbClr>
                </a:solidFill>
                <a:ln w="15875">
                  <a:solidFill>
                    <a:srgbClr val="071773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p:sp>
              <p:nvSpPr>
                <p:cNvPr id="173" name="Rounded Rectangle 24"/>
                <p:cNvSpPr/>
                <p:nvPr/>
              </p:nvSpPr>
              <p:spPr>
                <a:xfrm>
                  <a:off x="9946955" y="1162496"/>
                  <a:ext cx="1937067" cy="4936319"/>
                </a:xfrm>
                <a:prstGeom prst="roundRect">
                  <a:avLst>
                    <a:gd name="adj" fmla="val 4541"/>
                  </a:avLst>
                </a:prstGeom>
                <a:solidFill>
                  <a:schemeClr val="bg1"/>
                </a:solidFill>
                <a:ln w="127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74" name="TextBox 173"/>
                <p:cNvSpPr txBox="1"/>
                <p:nvPr/>
              </p:nvSpPr>
              <p:spPr>
                <a:xfrm>
                  <a:off x="10005821" y="1239545"/>
                  <a:ext cx="1839768" cy="401004"/>
                </a:xfrm>
                <a:prstGeom prst="roundRect">
                  <a:avLst>
                    <a:gd name="adj" fmla="val 18141"/>
                  </a:avLst>
                </a:prstGeom>
                <a:solidFill>
                  <a:srgbClr val="08275F"/>
                </a:solidFill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/>
                  <a:r>
                    <a:rPr lang="en-US" sz="1050" b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Arial"/>
                    </a:rPr>
                    <a:t>Integrated phase</a:t>
                  </a:r>
                </a:p>
                <a:p>
                  <a:pPr algn="ctr"/>
                  <a:r>
                    <a:rPr lang="en-US" sz="1050" b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Arial"/>
                    </a:rPr>
                    <a:t>and dry mass</a:t>
                  </a:r>
                </a:p>
              </p:txBody>
            </p:sp>
            <p:sp>
              <p:nvSpPr>
                <p:cNvPr id="13" name="Rounded Rectangle 12"/>
                <p:cNvSpPr/>
                <p:nvPr/>
              </p:nvSpPr>
              <p:spPr>
                <a:xfrm>
                  <a:off x="7454725" y="665181"/>
                  <a:ext cx="2166050" cy="5598225"/>
                </a:xfrm>
                <a:prstGeom prst="roundRect">
                  <a:avLst>
                    <a:gd name="adj" fmla="val 5186"/>
                  </a:avLst>
                </a:prstGeom>
                <a:solidFill>
                  <a:srgbClr val="F0F8FE"/>
                </a:solidFill>
                <a:ln w="15875">
                  <a:solidFill>
                    <a:srgbClr val="004B94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p:sp>
              <p:nvSpPr>
                <p:cNvPr id="171" name="Rounded Rectangle 24"/>
                <p:cNvSpPr/>
                <p:nvPr/>
              </p:nvSpPr>
              <p:spPr>
                <a:xfrm>
                  <a:off x="7565300" y="1162496"/>
                  <a:ext cx="1937067" cy="4936319"/>
                </a:xfrm>
                <a:prstGeom prst="roundRect">
                  <a:avLst>
                    <a:gd name="adj" fmla="val 4541"/>
                  </a:avLst>
                </a:prstGeom>
                <a:solidFill>
                  <a:schemeClr val="bg1"/>
                </a:solidFill>
                <a:ln w="127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72" name="TextBox 171"/>
                <p:cNvSpPr txBox="1"/>
                <p:nvPr/>
              </p:nvSpPr>
              <p:spPr>
                <a:xfrm>
                  <a:off x="7639406" y="1239545"/>
                  <a:ext cx="1795699" cy="401004"/>
                </a:xfrm>
                <a:prstGeom prst="roundRect">
                  <a:avLst>
                    <a:gd name="adj" fmla="val 18141"/>
                  </a:avLst>
                </a:prstGeom>
                <a:solidFill>
                  <a:srgbClr val="004B94"/>
                </a:solidFill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/>
                  <a:r>
                    <a:rPr lang="en-US" sz="1050" b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Arial"/>
                    </a:rPr>
                    <a:t>Physics-Aware Phase</a:t>
                  </a:r>
                </a:p>
                <a:p>
                  <a:pPr algn="ctr"/>
                  <a:r>
                    <a:rPr lang="en-US" sz="1050" b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Arial"/>
                    </a:rPr>
                    <a:t>Consistency Loss</a:t>
                  </a:r>
                </a:p>
              </p:txBody>
            </p:sp>
            <p:sp>
              <p:nvSpPr>
                <p:cNvPr id="4" name="Rounded Rectangle 3"/>
                <p:cNvSpPr/>
                <p:nvPr/>
              </p:nvSpPr>
              <p:spPr>
                <a:xfrm>
                  <a:off x="164759" y="665183"/>
                  <a:ext cx="1791680" cy="5598224"/>
                </a:xfrm>
                <a:prstGeom prst="roundRect">
                  <a:avLst>
                    <a:gd name="adj" fmla="val 5874"/>
                  </a:avLst>
                </a:prstGeom>
                <a:solidFill>
                  <a:schemeClr val="bg1">
                    <a:lumMod val="95000"/>
                    <a:alpha val="24000"/>
                  </a:schemeClr>
                </a:solidFill>
                <a:ln w="15875">
                  <a:solidFill>
                    <a:srgbClr val="7B7B7B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p:sp>
              <p:nvSpPr>
                <p:cNvPr id="112" name="모서리가 둥근 직사각형 111"/>
                <p:cNvSpPr/>
                <p:nvPr/>
              </p:nvSpPr>
              <p:spPr>
                <a:xfrm>
                  <a:off x="269875" y="1156898"/>
                  <a:ext cx="1587103" cy="1914519"/>
                </a:xfrm>
                <a:prstGeom prst="roundRect">
                  <a:avLst>
                    <a:gd name="adj" fmla="val 4664"/>
                  </a:avLst>
                </a:prstGeom>
                <a:solidFill>
                  <a:schemeClr val="bg1"/>
                </a:solidFill>
                <a:ln w="15875">
                  <a:solidFill>
                    <a:srgbClr val="686363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11" name="Rounded Rectangle 4"/>
                <p:cNvSpPr/>
                <p:nvPr/>
              </p:nvSpPr>
              <p:spPr>
                <a:xfrm>
                  <a:off x="164760" y="665182"/>
                  <a:ext cx="1796099" cy="371323"/>
                </a:xfrm>
                <a:prstGeom prst="round2SameRect">
                  <a:avLst>
                    <a:gd name="adj1" fmla="val 24875"/>
                    <a:gd name="adj2" fmla="val 0"/>
                  </a:avLst>
                </a:prstGeom>
                <a:gradFill flip="none" rotWithShape="1">
                  <a:gsLst>
                    <a:gs pos="72000">
                      <a:schemeClr val="bg1">
                        <a:lumMod val="50000"/>
                      </a:schemeClr>
                    </a:gs>
                    <a:gs pos="0">
                      <a:schemeClr val="tx1">
                        <a:lumMod val="75000"/>
                        <a:lumOff val="25000"/>
                      </a:schemeClr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3" name="TextBox 2"/>
                <p:cNvSpPr txBox="1"/>
                <p:nvPr/>
              </p:nvSpPr>
              <p:spPr>
                <a:xfrm>
                  <a:off x="197077" y="741921"/>
                  <a:ext cx="1723999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sz="1400" b="1" spc="-5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Arial"/>
                    </a:rPr>
                    <a:t>1. QPI preprocessing</a:t>
                  </a:r>
                </a:p>
              </p:txBody>
            </p:sp>
            <p:sp>
              <p:nvSpPr>
                <p:cNvPr id="5" name="Rounded Rectangle 4"/>
                <p:cNvSpPr/>
                <p:nvPr/>
              </p:nvSpPr>
              <p:spPr>
                <a:xfrm>
                  <a:off x="2168185" y="665182"/>
                  <a:ext cx="2696511" cy="371323"/>
                </a:xfrm>
                <a:prstGeom prst="round2SameRect">
                  <a:avLst>
                    <a:gd name="adj1" fmla="val 26927"/>
                    <a:gd name="adj2" fmla="val 0"/>
                  </a:avLst>
                </a:prstGeom>
                <a:gradFill flip="none" rotWithShape="1">
                  <a:gsLst>
                    <a:gs pos="100000">
                      <a:srgbClr val="009BC0"/>
                    </a:gs>
                    <a:gs pos="0">
                      <a:srgbClr val="0594C7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6" name="TextBox 5"/>
                <p:cNvSpPr txBox="1"/>
                <p:nvPr/>
              </p:nvSpPr>
              <p:spPr>
                <a:xfrm>
                  <a:off x="2168185" y="741921"/>
                  <a:ext cx="2696511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sz="1400" b="1" spc="-5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Arial"/>
                    </a:rPr>
                    <a:t>2. Frozen encoder + LoRA</a:t>
                  </a:r>
                </a:p>
              </p:txBody>
            </p:sp>
            <p:sp>
              <p:nvSpPr>
                <p:cNvPr id="8" name="Rounded Rectangle 7"/>
                <p:cNvSpPr/>
                <p:nvPr/>
              </p:nvSpPr>
              <p:spPr>
                <a:xfrm>
                  <a:off x="5076686" y="665182"/>
                  <a:ext cx="2166050" cy="371324"/>
                </a:xfrm>
                <a:prstGeom prst="round2SameRect">
                  <a:avLst>
                    <a:gd name="adj1" fmla="val 33084"/>
                    <a:gd name="adj2" fmla="val 0"/>
                  </a:avLst>
                </a:prstGeom>
                <a:gradFill flip="none" rotWithShape="1">
                  <a:gsLst>
                    <a:gs pos="0">
                      <a:srgbClr val="3C688F"/>
                    </a:gs>
                    <a:gs pos="100000">
                      <a:srgbClr val="2081BD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9" name="TextBox 8"/>
                <p:cNvSpPr txBox="1"/>
                <p:nvPr/>
              </p:nvSpPr>
              <p:spPr>
                <a:xfrm>
                  <a:off x="5076686" y="741921"/>
                  <a:ext cx="2166050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sz="1400" b="1" spc="-5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Arial"/>
                    </a:rPr>
                    <a:t>3. Trainable decoder</a:t>
                  </a:r>
                </a:p>
              </p:txBody>
            </p:sp>
            <p:sp>
              <p:nvSpPr>
                <p:cNvPr id="11" name="Rounded Rectangle 10"/>
                <p:cNvSpPr/>
                <p:nvPr/>
              </p:nvSpPr>
              <p:spPr>
                <a:xfrm>
                  <a:off x="7454725" y="665182"/>
                  <a:ext cx="2166050" cy="371323"/>
                </a:xfrm>
                <a:prstGeom prst="round2SameRect">
                  <a:avLst>
                    <a:gd name="adj1" fmla="val 31032"/>
                    <a:gd name="adj2" fmla="val 0"/>
                  </a:avLst>
                </a:prstGeom>
                <a:gradFill flip="none" rotWithShape="1">
                  <a:gsLst>
                    <a:gs pos="100000">
                      <a:srgbClr val="004B94"/>
                    </a:gs>
                    <a:gs pos="0">
                      <a:srgbClr val="00418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2" name="TextBox 11"/>
                <p:cNvSpPr txBox="1"/>
                <p:nvPr/>
              </p:nvSpPr>
              <p:spPr>
                <a:xfrm>
                  <a:off x="7454725" y="743122"/>
                  <a:ext cx="2166050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sz="1400" b="1" spc="-5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Arial"/>
                    </a:rPr>
                    <a:t>4. Physics-aware loss</a:t>
                  </a:r>
                </a:p>
              </p:txBody>
            </p:sp>
            <p:sp>
              <p:nvSpPr>
                <p:cNvPr id="14" name="Rounded Rectangle 13"/>
                <p:cNvSpPr/>
                <p:nvPr/>
              </p:nvSpPr>
              <p:spPr>
                <a:xfrm>
                  <a:off x="9829590" y="665182"/>
                  <a:ext cx="2192595" cy="371323"/>
                </a:xfrm>
                <a:prstGeom prst="round2SameRect">
                  <a:avLst>
                    <a:gd name="adj1" fmla="val 29492"/>
                    <a:gd name="adj2" fmla="val 0"/>
                  </a:avLst>
                </a:prstGeom>
                <a:gradFill flip="none" rotWithShape="1">
                  <a:gsLst>
                    <a:gs pos="19000">
                      <a:srgbClr val="082C58"/>
                    </a:gs>
                    <a:gs pos="100000">
                      <a:srgbClr val="071477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sp>
              <p:nvSpPr>
                <p:cNvPr id="15" name="TextBox 14"/>
                <p:cNvSpPr txBox="1"/>
                <p:nvPr/>
              </p:nvSpPr>
              <p:spPr>
                <a:xfrm>
                  <a:off x="9829590" y="743122"/>
                  <a:ext cx="2192595" cy="2154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sz="1400" b="1" spc="-5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Arial"/>
                    </a:rPr>
                    <a:t>5. Quantitative readout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TextBox 16"/>
                    <p:cNvSpPr txBox="1"/>
                    <p:nvPr/>
                  </p:nvSpPr>
                  <p:spPr>
                    <a:xfrm>
                      <a:off x="334701" y="1239545"/>
                      <a:ext cx="1487160" cy="184181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rgbClr val="636363"/>
                    </a:solidFill>
                  </p:spPr>
                  <p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:r>
                        <a:rPr sz="1050" b="1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/>
                        </a:rPr>
                        <a:t>Reconstructed phase</a:t>
                      </a:r>
                      <a:r>
                        <a:rPr lang="en-US" sz="1050" b="1" spc="-5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Arial"/>
                        </a:rPr>
                        <a:t> </a:t>
                      </a:r>
                      <a14:m>
                        <m:oMath xmlns:m="http://schemas.openxmlformats.org/officeDocument/2006/math">
                          <m:r>
                            <a:rPr lang="ko-KR" altLang="en-US" sz="1050" b="1" i="1" spc="-100" dirty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𝝓</m:t>
                          </m:r>
                        </m:oMath>
                      </a14:m>
                      <a:endParaRPr sz="1050" b="1" spc="-5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Arial"/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TextBox 16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34701" y="1239545"/>
                      <a:ext cx="1487160" cy="184181"/>
                    </a:xfrm>
                    <a:prstGeom prst="roundRect">
                      <a:avLst>
                        <a:gd name="adj" fmla="val 50000"/>
                      </a:avLst>
                    </a:prstGeom>
                    <a:blipFill>
                      <a:blip r:embed="rId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8" name="TextBox 17"/>
                <p:cNvSpPr txBox="1"/>
                <p:nvPr/>
              </p:nvSpPr>
              <p:spPr>
                <a:xfrm>
                  <a:off x="269875" y="1471143"/>
                  <a:ext cx="1587104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lang="en-US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(Single channel, radians)</a:t>
                  </a:r>
                </a:p>
              </p:txBody>
            </p:sp>
            <p:pic>
              <p:nvPicPr>
                <p:cNvPr id="19" name="p1_phase.png" descr="p1_phase.png"/>
                <p:cNvPicPr>
                  <a:picLocks noChangeAspect="1"/>
                </p:cNvPicPr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34701" y="1686025"/>
                  <a:ext cx="1512417" cy="1228953"/>
                </a:xfrm>
                <a:prstGeom prst="rect">
                  <a:avLst/>
                </a:prstGeom>
              </p:spPr>
            </p:pic>
            <p:sp>
              <p:nvSpPr>
                <p:cNvPr id="25" name="Rounded Rectangle 24"/>
                <p:cNvSpPr/>
                <p:nvPr/>
              </p:nvSpPr>
              <p:spPr>
                <a:xfrm>
                  <a:off x="2291960" y="1162497"/>
                  <a:ext cx="2448961" cy="1925616"/>
                </a:xfrm>
                <a:prstGeom prst="roundRect">
                  <a:avLst>
                    <a:gd name="adj" fmla="val 4541"/>
                  </a:avLst>
                </a:prstGeom>
                <a:solidFill>
                  <a:schemeClr val="bg1"/>
                </a:solidFill>
                <a:ln w="127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27" name="TextBox 26"/>
                <p:cNvSpPr txBox="1"/>
                <p:nvPr/>
              </p:nvSpPr>
              <p:spPr>
                <a:xfrm>
                  <a:off x="2413770" y="1406458"/>
                  <a:ext cx="2696511" cy="103284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marL="234900" indent="-171450">
                    <a:lnSpc>
                      <a:spcPct val="250000"/>
                    </a:lnSpc>
                    <a:buClr>
                      <a:srgbClr val="029BC2"/>
                    </a:buClr>
                    <a:buFont typeface="Wingdings" panose="05000000000000000000" pitchFamily="2" charset="2"/>
                    <a:buChar char="§"/>
                  </a:pPr>
                  <a:r>
                    <a:rPr sz="950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/>
                    </a:rPr>
                    <a:t>EdgeSAM</a:t>
                  </a:r>
                  <a:r>
                    <a:rPr sz="95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/>
                    </a:rPr>
                    <a:t> (</a:t>
                  </a:r>
                  <a:r>
                    <a:rPr sz="950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/>
                    </a:rPr>
                    <a:t>RepViT</a:t>
                  </a:r>
                  <a:r>
                    <a:rPr sz="95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/>
                    </a:rPr>
                    <a:t>)</a:t>
                  </a:r>
                </a:p>
                <a:p>
                  <a:pPr marL="234900" indent="-171450">
                    <a:lnSpc>
                      <a:spcPct val="250000"/>
                    </a:lnSpc>
                    <a:buClr>
                      <a:srgbClr val="029BC2"/>
                    </a:buClr>
                    <a:buFont typeface="Wingdings" panose="05000000000000000000" pitchFamily="2" charset="2"/>
                    <a:buChar char="§"/>
                  </a:pPr>
                  <a:r>
                    <a:rPr sz="950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/>
                    </a:rPr>
                    <a:t>MobileSAM</a:t>
                  </a:r>
                  <a:r>
                    <a:rPr sz="95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/>
                    </a:rPr>
                    <a:t> (</a:t>
                  </a:r>
                  <a:r>
                    <a:rPr sz="950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/>
                    </a:rPr>
                    <a:t>TinyViT</a:t>
                  </a:r>
                  <a:r>
                    <a:rPr sz="95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/>
                    </a:rPr>
                    <a:t>)</a:t>
                  </a:r>
                </a:p>
                <a:p>
                  <a:pPr marL="234900" indent="-171450">
                    <a:lnSpc>
                      <a:spcPct val="250000"/>
                    </a:lnSpc>
                    <a:buClr>
                      <a:srgbClr val="029BC2"/>
                    </a:buClr>
                    <a:buFont typeface="Wingdings" panose="05000000000000000000" pitchFamily="2" charset="2"/>
                    <a:buChar char="§"/>
                  </a:pPr>
                  <a:r>
                    <a:rPr sz="950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/>
                    </a:rPr>
                    <a:t>MobileNet-UNet</a:t>
                  </a:r>
                  <a:r>
                    <a:rPr sz="95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/>
                    </a:rPr>
                    <a:t> (MobileNetV2)</a:t>
                  </a:r>
                </a:p>
              </p:txBody>
            </p:sp>
            <p:sp>
              <p:nvSpPr>
                <p:cNvPr id="28" name="TextBox 27"/>
                <p:cNvSpPr txBox="1"/>
                <p:nvPr/>
              </p:nvSpPr>
              <p:spPr>
                <a:xfrm>
                  <a:off x="2456598" y="2646871"/>
                  <a:ext cx="2696511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lang="en-US" sz="900" b="1" i="1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39AC4"/>
                      </a:solidFill>
                      <a:latin typeface="Arial"/>
                    </a:rPr>
                    <a:t>Pretrained</a:t>
                  </a:r>
                  <a:r>
                    <a:rPr lang="en-US" sz="900" b="1" i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39AC4"/>
                      </a:solidFill>
                      <a:latin typeface="Arial"/>
                    </a:rPr>
                    <a:t> weights held fixed</a:t>
                  </a:r>
                </a:p>
              </p:txBody>
            </p:sp>
            <p:sp>
              <p:nvSpPr>
                <p:cNvPr id="31" name="TextBox 30"/>
                <p:cNvSpPr txBox="1"/>
                <p:nvPr/>
              </p:nvSpPr>
              <p:spPr>
                <a:xfrm>
                  <a:off x="2178239" y="3291052"/>
                  <a:ext cx="2696511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sz="1000" b="1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26B88"/>
                      </a:solidFill>
                      <a:latin typeface="Arial"/>
                    </a:rPr>
                    <a:t>LoRA adapters in encoder attention,</a:t>
                  </a:r>
                </a:p>
                <a:p>
                  <a:pPr algn="ctr"/>
                  <a:r>
                    <a:rPr sz="1000" b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26B88"/>
                      </a:solidFill>
                      <a:latin typeface="Arial"/>
                    </a:rPr>
                    <a:t>linear and convolution layers</a:t>
                  </a:r>
                </a:p>
              </p:txBody>
            </p:sp>
            <p:grpSp>
              <p:nvGrpSpPr>
                <p:cNvPr id="20" name="그룹 19"/>
                <p:cNvGrpSpPr/>
                <p:nvPr/>
              </p:nvGrpSpPr>
              <p:grpSpPr>
                <a:xfrm>
                  <a:off x="2425863" y="3673475"/>
                  <a:ext cx="2185449" cy="1723198"/>
                  <a:chOff x="2425863" y="3673476"/>
                  <a:chExt cx="2185449" cy="1365306"/>
                </a:xfrm>
              </p:grpSpPr>
              <p:sp>
                <p:nvSpPr>
                  <p:cNvPr id="1033" name="모서리가 둥근 직사각형 1032"/>
                  <p:cNvSpPr/>
                  <p:nvPr/>
                </p:nvSpPr>
                <p:spPr>
                  <a:xfrm>
                    <a:off x="2425863" y="3673476"/>
                    <a:ext cx="2185449" cy="1365306"/>
                  </a:xfrm>
                  <a:prstGeom prst="roundRect">
                    <a:avLst>
                      <a:gd name="adj" fmla="val 4276"/>
                    </a:avLst>
                  </a:prstGeom>
                  <a:solidFill>
                    <a:schemeClr val="bg1">
                      <a:lumMod val="95000"/>
                    </a:schemeClr>
                  </a:solidFill>
                  <a:ln w="9525">
                    <a:solidFill>
                      <a:schemeClr val="bg1">
                        <a:lumMod val="8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32" name="Rectangle 31"/>
                  <p:cNvSpPr/>
                  <p:nvPr/>
                </p:nvSpPr>
                <p:spPr>
                  <a:xfrm>
                    <a:off x="2569282" y="3987917"/>
                    <a:ext cx="371323" cy="961716"/>
                  </a:xfrm>
                  <a:prstGeom prst="rect">
                    <a:avLst/>
                  </a:prstGeom>
                  <a:solidFill>
                    <a:srgbClr val="CAF3FE"/>
                  </a:solidFill>
                  <a:ln w="11430">
                    <a:solidFill>
                      <a:srgbClr val="5B87BF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  <a:endParaRPr sz="240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</a:endParaRPr>
                  </a:p>
                </p:txBody>
              </p:sp>
              <p:sp>
                <p:nvSpPr>
                  <p:cNvPr id="33" name="TextBox 32"/>
                  <p:cNvSpPr txBox="1"/>
                  <p:nvPr/>
                </p:nvSpPr>
                <p:spPr>
                  <a:xfrm>
                    <a:off x="2465380" y="3828128"/>
                    <a:ext cx="583506" cy="11549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lang="en-US" sz="9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2E7BC4"/>
                        </a:solidFill>
                        <a:latin typeface="Arial"/>
                      </a:rPr>
                      <a:t>Frozen W</a:t>
                    </a:r>
                  </a:p>
                </p:txBody>
              </p:sp>
              <p:sp>
                <p:nvSpPr>
                  <p:cNvPr id="34" name="TextBox 33"/>
                  <p:cNvSpPr txBox="1"/>
                  <p:nvPr/>
                </p:nvSpPr>
                <p:spPr>
                  <a:xfrm>
                    <a:off x="2958287" y="4353285"/>
                    <a:ext cx="229866" cy="23098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/>
                      </a:rPr>
                      <a:t>+</a:t>
                    </a:r>
                  </a:p>
                </p:txBody>
              </p:sp>
              <p:sp>
                <p:nvSpPr>
                  <p:cNvPr id="35" name="Rectangle 34"/>
                  <p:cNvSpPr/>
                  <p:nvPr/>
                </p:nvSpPr>
                <p:spPr>
                  <a:xfrm>
                    <a:off x="3178201" y="4171897"/>
                    <a:ext cx="195246" cy="593755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11430">
                    <a:solidFill>
                      <a:schemeClr val="bg1">
                        <a:lumMod val="65000"/>
                      </a:schemeClr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  <a:endParaRPr sz="240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</a:endParaRPr>
                  </a:p>
                </p:txBody>
              </p:sp>
              <p:sp>
                <p:nvSpPr>
                  <p:cNvPr id="36" name="TextBox 35"/>
                  <p:cNvSpPr txBox="1"/>
                  <p:nvPr/>
                </p:nvSpPr>
                <p:spPr>
                  <a:xfrm>
                    <a:off x="3183946" y="4383384"/>
                    <a:ext cx="183756" cy="1538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0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/>
                      </a:rPr>
                      <a:t>B</a:t>
                    </a:r>
                  </a:p>
                </p:txBody>
              </p:sp>
              <p:sp>
                <p:nvSpPr>
                  <p:cNvPr id="38" name="Rectangle 37"/>
                  <p:cNvSpPr/>
                  <p:nvPr/>
                </p:nvSpPr>
                <p:spPr>
                  <a:xfrm>
                    <a:off x="3446400" y="4388643"/>
                    <a:ext cx="371323" cy="155397"/>
                  </a:xfrm>
                  <a:prstGeom prst="rect">
                    <a:avLst/>
                  </a:prstGeom>
                  <a:solidFill>
                    <a:schemeClr val="bg1">
                      <a:lumMod val="85000"/>
                    </a:schemeClr>
                  </a:solidFill>
                  <a:ln w="11430">
                    <a:solidFill>
                      <a:schemeClr val="bg1">
                        <a:lumMod val="65000"/>
                      </a:schemeClr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  <a:endParaRPr sz="240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</a:endParaRPr>
                  </a:p>
                </p:txBody>
              </p:sp>
              <p:sp>
                <p:nvSpPr>
                  <p:cNvPr id="39" name="TextBox 38"/>
                  <p:cNvSpPr txBox="1"/>
                  <p:nvPr/>
                </p:nvSpPr>
                <p:spPr>
                  <a:xfrm>
                    <a:off x="3446400" y="4403217"/>
                    <a:ext cx="371323" cy="12832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10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Arial"/>
                      </a:rPr>
                      <a:t>A</a:t>
                    </a:r>
                  </a:p>
                </p:txBody>
              </p:sp>
              <p:sp>
                <p:nvSpPr>
                  <p:cNvPr id="41" name="TextBox 40"/>
                  <p:cNvSpPr txBox="1"/>
                  <p:nvPr/>
                </p:nvSpPr>
                <p:spPr>
                  <a:xfrm>
                    <a:off x="3842388" y="4353285"/>
                    <a:ext cx="229866" cy="23098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Arial"/>
                      </a:rPr>
                      <a:t>=</a:t>
                    </a:r>
                  </a:p>
                </p:txBody>
              </p:sp>
              <p:sp>
                <p:nvSpPr>
                  <p:cNvPr id="42" name="Rectangle 41"/>
                  <p:cNvSpPr/>
                  <p:nvPr/>
                </p:nvSpPr>
                <p:spPr>
                  <a:xfrm>
                    <a:off x="4089938" y="3987917"/>
                    <a:ext cx="371323" cy="961716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11430">
                    <a:solidFill>
                      <a:srgbClr val="4E9A5C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  <a:endParaRPr sz="240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</a:endParaRPr>
                  </a:p>
                </p:txBody>
              </p:sp>
              <p:sp>
                <p:nvSpPr>
                  <p:cNvPr id="43" name="TextBox 42"/>
                  <p:cNvSpPr txBox="1"/>
                  <p:nvPr/>
                </p:nvSpPr>
                <p:spPr>
                  <a:xfrm>
                    <a:off x="3870060" y="3830695"/>
                    <a:ext cx="726496" cy="115490"/>
                  </a:xfrm>
                  <a:prstGeom prst="rect">
                    <a:avLst/>
                  </a:prstGeom>
                  <a:solidFill>
                    <a:schemeClr val="bg1">
                      <a:lumMod val="95000"/>
                    </a:schemeClr>
                  </a:solidFill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lang="en-US" sz="900" b="1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2E6B3A"/>
                        </a:solidFill>
                        <a:latin typeface="Arial"/>
                      </a:rPr>
                      <a:t>Adapted W′</a:t>
                    </a:r>
                  </a:p>
                </p:txBody>
              </p:sp>
            </p:grpSp>
            <p:sp xmlns:a14="http://schemas.microsoft.com/office/drawing/2010/main">
              <p:nvSpPr>
                <p:cNvPr id="44" name="TextBox 43"/>
                <p:cNvSpPr txBox="1"/>
                <p:nvPr/>
              </p:nvSpPr>
              <p:spPr>
                <a:xfrm>
                  <a:off x="2209571" y="5505864"/>
                  <a:ext cx="2696511" cy="1692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sz="1100" b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latin typeface="Arial"/>
                    </a:rPr>
                    <a:t>W′ = W + (𝜶 / 𝒓) BA</a:t>
                  </a:r>
                </a:p>
              </p:txBody>
            </p:sp>
            <p:sp>
              <p:nvSpPr>
                <p:cNvPr id="65" name="Rounded Rectangle 64"/>
                <p:cNvSpPr/>
                <p:nvPr/>
              </p:nvSpPr>
              <p:spPr>
                <a:xfrm>
                  <a:off x="7634429" y="1717762"/>
                  <a:ext cx="1789709" cy="707281"/>
                </a:xfrm>
                <a:prstGeom prst="roundRect">
                  <a:avLst>
                    <a:gd name="adj" fmla="val 8000"/>
                  </a:avLst>
                </a:prstGeom>
                <a:noFill/>
                <a:ln w="1143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6" name="TextBox 65"/>
                    <p:cNvSpPr txBox="1"/>
                    <p:nvPr/>
                  </p:nvSpPr>
                  <p:spPr>
                    <a:xfrm>
                      <a:off x="6961140" y="1737318"/>
                      <a:ext cx="1789709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US" altLang="ko-KR" sz="1200" b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oMath>
                      </a14:m>
                      <a:r>
                        <a:rPr lang="en-US" sz="12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4B94"/>
                          </a:solidFill>
                          <a:latin typeface="Arial"/>
                        </a:rPr>
                        <a:t> Dice</a:t>
                      </a:r>
                    </a:p>
                  </p:txBody>
                </p:sp>
              </mc:Choice>
              <mc:Fallback xmlns="">
                <p:sp>
                  <p:nvSpPr>
                    <p:cNvPr id="66" name="TextBox 6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961140" y="1737318"/>
                      <a:ext cx="1789709" cy="184666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67" name="TextBox 66"/>
                <p:cNvSpPr txBox="1"/>
                <p:nvPr/>
              </p:nvSpPr>
              <p:spPr>
                <a:xfrm>
                  <a:off x="7467144" y="1960318"/>
                  <a:ext cx="2166050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lang="en-US" sz="1000" b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Class-weighted overlap</a:t>
                  </a:r>
                </a:p>
              </p:txBody>
            </p:sp>
            <p:sp>
              <p:nvSpPr>
                <p:cNvPr id="68" name="TextBox 67"/>
                <p:cNvSpPr txBox="1"/>
                <p:nvPr/>
              </p:nvSpPr>
              <p:spPr>
                <a:xfrm>
                  <a:off x="7388204" y="2153248"/>
                  <a:ext cx="2166050" cy="1461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marL="171450" indent="-72000" algn="ctr">
                    <a:buClr>
                      <a:schemeClr val="bg1">
                        <a:lumMod val="75000"/>
                      </a:schemeClr>
                    </a:buClr>
                    <a:buFont typeface="Arial" panose="020B0604020202020204" pitchFamily="34" charset="0"/>
                    <a:buChar char="•"/>
                  </a:pPr>
                  <a:r>
                    <a:rPr lang="en-US" sz="950" i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Geometric </a:t>
                  </a:r>
                  <a:r>
                    <a:rPr lang="en-US" sz="950" i="1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localisation</a:t>
                  </a:r>
                  <a:endParaRPr lang="en-US" sz="950" i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82" name="TextBox 81"/>
                    <p:cNvSpPr txBox="1"/>
                    <p:nvPr/>
                  </p:nvSpPr>
                  <p:spPr>
                    <a:xfrm>
                      <a:off x="7634428" y="5325367"/>
                      <a:ext cx="1800677" cy="664433"/>
                    </a:xfrm>
                    <a:prstGeom prst="roundRect">
                      <a:avLst>
                        <a:gd name="adj" fmla="val 11361"/>
                      </a:avLst>
                    </a:prstGeom>
                    <a:solidFill>
                      <a:schemeClr val="bg1">
                        <a:lumMod val="95000"/>
                      </a:schemeClr>
                    </a:solidFill>
                  </p:spPr>
                  <p:txBody>
                    <a:bodyPr wrap="square" lIns="0" tIns="0" rIns="0" bIns="0" anchor="ctr">
                      <a:noAutofit/>
                    </a:bodyPr>
                    <a:lstStyle/>
                    <a:p>
                      <a:pPr algn="ctr"/>
                      <a14:m>
                        <m:oMath xmlns:m="http://schemas.openxmlformats.org/officeDocument/2006/math">
                          <m:r>
                            <a:rPr lang="en-US" altLang="ko-KR" sz="1100" b="1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  <m:r>
                            <a:rPr lang="en-US" altLang="ko-KR" sz="1100" b="1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a14:m>
                      <a:r>
                        <a:rPr 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4B94"/>
                          </a:solidFill>
                          <a:latin typeface="Arial"/>
                        </a:rPr>
                        <a:t>Total = </a:t>
                      </a:r>
                      <a14:m>
                        <m:oMath xmlns:m="http://schemas.openxmlformats.org/officeDocument/2006/math">
                          <m:r>
                            <a:rPr lang="en-US" altLang="ko-KR" sz="1100" b="1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oMath>
                      </a14:m>
                      <a:r>
                        <a:rPr 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4B94"/>
                          </a:solidFill>
                          <a:latin typeface="Arial"/>
                        </a:rPr>
                        <a:t> Dice +</a:t>
                      </a:r>
                      <a14:m>
                        <m:oMath xmlns:m="http://schemas.openxmlformats.org/officeDocument/2006/math">
                          <m:r>
                            <a:rPr lang="en-US" altLang="ko-KR" sz="1100" b="1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sz="1100" b="1" i="1" dirty="0" err="1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𝝀</m:t>
                          </m:r>
                          <m:r>
                            <a:rPr lang="ko-KR" altLang="en-US" sz="1100" b="1" i="1" dirty="0" err="1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₁</m:t>
                          </m:r>
                          <m:r>
                            <a:rPr lang="en-US" altLang="ko-KR" sz="1100" b="1" i="1" dirty="0" err="1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  <m:r>
                            <a:rPr lang="en-US" altLang="ko-KR" sz="1100" b="1" i="1" dirty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a14:m>
                      <a:r>
                        <a:rPr 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4B94"/>
                          </a:solidFill>
                          <a:latin typeface="Arial"/>
                        </a:rPr>
                        <a:t>PMC</a:t>
                      </a:r>
                    </a:p>
                    <a:p>
                      <a:pPr algn="ctr"/>
                      <a:r>
                        <a:rPr 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4B94"/>
                          </a:solidFill>
                          <a:latin typeface="Arial"/>
                        </a:rPr>
                        <a:t>+ </a:t>
                      </a:r>
                      <a14:m>
                        <m:oMath xmlns:m="http://schemas.openxmlformats.org/officeDocument/2006/math">
                          <m:r>
                            <a:rPr lang="ko-KR" altLang="en-US" sz="1100" b="1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𝝀</m:t>
                          </m:r>
                          <m:r>
                            <a:rPr lang="ko-KR" altLang="en-US" sz="1100" b="1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₂</m:t>
                          </m:r>
                          <m:r>
                            <a:rPr lang="en-US" altLang="ko-KR" sz="1100" b="1" i="1" dirty="0" err="1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  <m:r>
                            <a:rPr lang="en-US" altLang="ko-KR" sz="1100" b="1" i="1" dirty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a14:m>
                      <a:r>
                        <a:rPr 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4B94"/>
                          </a:solidFill>
                          <a:latin typeface="Arial"/>
                        </a:rPr>
                        <a:t>BGA + </a:t>
                      </a:r>
                      <a14:m>
                        <m:oMath xmlns:m="http://schemas.openxmlformats.org/officeDocument/2006/math">
                          <m:r>
                            <a:rPr lang="ko-KR" altLang="en-US" sz="1100" b="1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𝝀</m:t>
                          </m:r>
                          <m:r>
                            <a:rPr lang="ko-KR" altLang="en-US" sz="1100" b="1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₃</m:t>
                          </m:r>
                          <m:r>
                            <a:rPr lang="en-US" altLang="ko-KR" sz="1100" b="1" i="1" dirty="0" err="1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  <m:r>
                            <a:rPr lang="en-US" altLang="ko-KR" sz="1100" b="1" i="1" dirty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a14:m>
                      <a:r>
                        <a:rPr lang="en-US" sz="11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4B94"/>
                          </a:solidFill>
                          <a:latin typeface="Arial"/>
                        </a:rPr>
                        <a:t>IPP</a:t>
                      </a:r>
                    </a:p>
                  </p:txBody>
                </p:sp>
              </mc:Choice>
              <mc:Fallback xmlns="">
                <p:sp>
                  <p:nvSpPr>
                    <p:cNvPr id="82" name="TextBox 8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34428" y="5325367"/>
                      <a:ext cx="1800677" cy="664433"/>
                    </a:xfrm>
                    <a:prstGeom prst="roundRect">
                      <a:avLst>
                        <a:gd name="adj" fmla="val 11361"/>
                      </a:avLst>
                    </a:prstGeom>
                    <a:blipFill>
                      <a:blip r:embed="rId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pic>
              <p:nvPicPr>
                <p:cNvPr id="84" name="p4_volume.png" descr="p4_volume.png"/>
                <p:cNvPicPr>
                  <a:picLocks noChangeAspect="1"/>
                </p:cNvPicPr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0047284" y="1714232"/>
                  <a:ext cx="1766620" cy="1483156"/>
                </a:xfrm>
                <a:prstGeom prst="rect">
                  <a:avLst/>
                </a:prstGeom>
              </p:spPr>
            </p:pic>
            <p:sp>
              <p:nvSpPr>
                <p:cNvPr id="21" name="TextBox 20"/>
                <p:cNvSpPr txBox="1"/>
                <p:nvPr/>
              </p:nvSpPr>
              <p:spPr>
                <a:xfrm>
                  <a:off x="683332" y="3492112"/>
                  <a:ext cx="751487" cy="153233"/>
                </a:xfrm>
                <a:prstGeom prst="round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sz="900" b="1" i="1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standardise</a:t>
                  </a:r>
                  <a:endParaRPr sz="900" b="1" i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</a:endParaRPr>
                </a:p>
              </p:txBody>
            </p:sp>
            <p:pic>
              <p:nvPicPr>
                <p:cNvPr id="116" name="그림 115"/>
                <p:cNvPicPr>
                  <a:picLocks noChangeAspect="1"/>
                </p:cNvPicPr>
                <p:nvPr/>
              </p:nvPicPr>
              <p:blipFill>
                <a:blip r:embed="rId8" cstate="print">
                  <a:duotone>
                    <a:prstClr val="black"/>
                    <a:schemeClr val="tx2">
                      <a:tint val="45000"/>
                      <a:satMod val="400000"/>
                    </a:scheme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8369" y="3144889"/>
                  <a:ext cx="361414" cy="364889"/>
                </a:xfrm>
                <a:prstGeom prst="rect">
                  <a:avLst/>
                </a:prstGeom>
              </p:spPr>
            </p:pic>
            <p:sp>
              <p:nvSpPr>
                <p:cNvPr id="118" name="화살표: 오른쪽 189">
                  <a:extLst>
                    <a:ext uri="{FF2B5EF4-FFF2-40B4-BE49-F238E27FC236}">
                      <a16:creationId xmlns:a16="http://schemas.microsoft.com/office/drawing/2014/main" id="{19AAE64E-F8B8-7AA3-184B-10928C7D51F3}"/>
                    </a:ext>
                  </a:extLst>
                </p:cNvPr>
                <p:cNvSpPr/>
                <p:nvPr/>
              </p:nvSpPr>
              <p:spPr>
                <a:xfrm rot="5400000">
                  <a:off x="909522" y="3679195"/>
                  <a:ext cx="303270" cy="269910"/>
                </a:xfrm>
                <a:prstGeom prst="rightArrow">
                  <a:avLst>
                    <a:gd name="adj1" fmla="val 45716"/>
                    <a:gd name="adj2" fmla="val 50000"/>
                  </a:avLst>
                </a:prstGeom>
                <a:gradFill flip="none" rotWithShape="1">
                  <a:gsLst>
                    <a:gs pos="0">
                      <a:schemeClr val="tx1">
                        <a:alpha val="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0" scaled="1"/>
                  <a:tileRect/>
                </a:gradFill>
                <a:ln w="6350">
                  <a:noFill/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20" name="모서리가 둥근 직사각형 119"/>
                <p:cNvSpPr/>
                <p:nvPr/>
              </p:nvSpPr>
              <p:spPr>
                <a:xfrm>
                  <a:off x="269875" y="4090598"/>
                  <a:ext cx="1587103" cy="2020932"/>
                </a:xfrm>
                <a:prstGeom prst="roundRect">
                  <a:avLst>
                    <a:gd name="adj" fmla="val 4664"/>
                  </a:avLst>
                </a:prstGeom>
                <a:solidFill>
                  <a:schemeClr val="bg1"/>
                </a:solidFill>
                <a:ln w="127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 xmlns:a14="http://schemas.microsoft.com/office/drawing/2010/main">
              <p:nvSpPr>
                <p:cNvPr id="121" name="TextBox 120"/>
                <p:cNvSpPr txBox="1"/>
                <p:nvPr/>
              </p:nvSpPr>
              <p:spPr>
                <a:xfrm>
                  <a:off x="334701" y="4174462"/>
                  <a:ext cx="1487160" cy="18418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636363"/>
                </a:solidFill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/>
                  <a:r>
                    <a:rPr lang="el-GR" sz="1050" b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Cambria Math" panose="02040503050406030204" pitchFamily="18" charset="0"/>
                    </a:rPr>
                    <a:t>Standardised input 𝚽</a:t>
                  </a:r>
                  <a:endParaRPr lang="el-GR" sz="1050" b="1" spc="-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/>
                  </a:endParaRPr>
                </a:p>
              </p:txBody>
            </p:sp>
            <p:sp>
              <p:nvSpPr>
                <p:cNvPr id="122" name="TextBox 121"/>
                <p:cNvSpPr txBox="1"/>
                <p:nvPr/>
              </p:nvSpPr>
              <p:spPr>
                <a:xfrm>
                  <a:off x="180360" y="4415535"/>
                  <a:ext cx="1723999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lang="en-US" sz="9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(z-score per image:</a:t>
                  </a:r>
                </a:p>
                <a:p>
                  <a:pPr algn="ctr"/>
                  <a:r>
                    <a:rPr lang="en-US" sz="900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zero mean, unit variance)</a:t>
                  </a:r>
                </a:p>
              </p:txBody>
            </p:sp>
            <p:pic>
              <p:nvPicPr>
                <p:cNvPr id="24" name="p2_norm.png" descr="p2_norm.png"/>
                <p:cNvPicPr>
                  <a:picLocks noChangeAspect="1"/>
                </p:cNvPicPr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48482" y="4792297"/>
                  <a:ext cx="1498701" cy="1215237"/>
                </a:xfrm>
                <a:prstGeom prst="rect">
                  <a:avLst/>
                </a:prstGeom>
              </p:spPr>
            </p:pic>
            <p:pic>
              <p:nvPicPr>
                <p:cNvPr id="1025" name="그림 1024"/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213811" y="2294025"/>
                  <a:ext cx="891521" cy="900093"/>
                </a:xfrm>
                <a:prstGeom prst="rect">
                  <a:avLst/>
                </a:prstGeom>
              </p:spPr>
            </p:pic>
            <p:cxnSp>
              <p:nvCxnSpPr>
                <p:cNvPr id="1032" name="직선 연결선 1031"/>
                <p:cNvCxnSpPr/>
                <p:nvPr/>
              </p:nvCxnSpPr>
              <p:spPr>
                <a:xfrm>
                  <a:off x="2397264" y="1801191"/>
                  <a:ext cx="2228724" cy="0"/>
                </a:xfrm>
                <a:prstGeom prst="line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7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41" name="직선 연결선 140"/>
                <p:cNvCxnSpPr/>
                <p:nvPr/>
              </p:nvCxnSpPr>
              <p:spPr>
                <a:xfrm>
                  <a:off x="2397264" y="2150441"/>
                  <a:ext cx="2228724" cy="0"/>
                </a:xfrm>
                <a:prstGeom prst="line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7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42" name="직선 연결선 141"/>
                <p:cNvCxnSpPr/>
                <p:nvPr/>
              </p:nvCxnSpPr>
              <p:spPr>
                <a:xfrm>
                  <a:off x="2397264" y="2525091"/>
                  <a:ext cx="2228724" cy="0"/>
                </a:xfrm>
                <a:prstGeom prst="line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7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29" name="TextBox 28"/>
                <p:cNvSpPr txBox="1"/>
                <p:nvPr/>
              </p:nvSpPr>
              <p:spPr>
                <a:xfrm>
                  <a:off x="2998690" y="2836773"/>
                  <a:ext cx="592030" cy="119296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29AC3"/>
                </a:solidFill>
              </p:spPr>
              <p:txBody>
                <a:bodyPr wrap="none" lIns="0" tIns="0" rIns="0" bIns="36000" anchor="ctr">
                  <a:noAutofit/>
                </a:bodyPr>
                <a:lstStyle/>
                <a:p>
                  <a:pPr algn="ctr"/>
                  <a:endParaRPr sz="95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Arial"/>
                  </a:endParaRPr>
                </a:p>
              </p:txBody>
            </p:sp>
            <p:sp>
              <p:nvSpPr>
                <p:cNvPr id="143" name="TextBox 142"/>
                <p:cNvSpPr txBox="1"/>
                <p:nvPr/>
              </p:nvSpPr>
              <p:spPr>
                <a:xfrm>
                  <a:off x="2948095" y="2832795"/>
                  <a:ext cx="698749" cy="154575"/>
                </a:xfrm>
                <a:prstGeom prst="roundRect">
                  <a:avLst>
                    <a:gd name="adj" fmla="val 50000"/>
                  </a:avLst>
                </a:prstGeom>
                <a:noFill/>
              </p:spPr>
              <p:txBody>
                <a:bodyPr wrap="none" lIns="0" tIns="0" rIns="0" bIns="36000" anchor="ctr">
                  <a:noAutofit/>
                </a:bodyPr>
                <a:lstStyle/>
                <a:p>
                  <a:pPr algn="ctr"/>
                  <a:r>
                    <a:rPr lang="en-US" sz="800" b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Arial"/>
                    </a:rPr>
                    <a:t>  Frozen</a:t>
                  </a:r>
                </a:p>
              </p:txBody>
            </p:sp>
            <p:pic>
              <p:nvPicPr>
                <p:cNvPr id="1024" name="그림 1023"/>
                <p:cNvPicPr>
                  <a:picLocks noChangeAspect="1"/>
                </p:cNvPicPr>
                <p:nvPr/>
              </p:nvPicPr>
              <p:blipFill>
                <a:blip r:embed="rId12" cstate="print">
                  <a:extLst>
                    <a:ext uri="{BEBA8EAE-BF5A-486C-A8C5-ECC9F3942E4B}">
                      <a14:imgProps xmlns:a14="http://schemas.microsoft.com/office/drawing/2010/main">
                        <a14:imgLayer r:embed="rId13">
                          <a14:imgEffect>
                            <a14:brightnessContrast bright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008395" y="2806801"/>
                  <a:ext cx="163014" cy="164582"/>
                </a:xfrm>
                <a:prstGeom prst="rect">
                  <a:avLst/>
                </a:prstGeom>
              </p:spPr>
            </p:pic>
            <p:sp>
              <p:nvSpPr>
                <p:cNvPr id="144" name="TextBox 143"/>
                <p:cNvSpPr txBox="1"/>
                <p:nvPr/>
              </p:nvSpPr>
              <p:spPr>
                <a:xfrm>
                  <a:off x="2350825" y="1243766"/>
                  <a:ext cx="2325949" cy="18418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29BC2"/>
                </a:solidFill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/>
                  <a:r>
                    <a:rPr lang="en-US" sz="1050" b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Arial"/>
                    </a:rPr>
                    <a:t> Frozen lightweight encoder</a:t>
                  </a:r>
                </a:p>
              </p:txBody>
            </p:sp>
            <p:sp>
              <p:nvSpPr>
                <p:cNvPr id="145" name="Rounded Rectangle 24"/>
                <p:cNvSpPr/>
                <p:nvPr/>
              </p:nvSpPr>
              <p:spPr>
                <a:xfrm>
                  <a:off x="5190197" y="1162497"/>
                  <a:ext cx="1937067" cy="1633932"/>
                </a:xfrm>
                <a:prstGeom prst="roundRect">
                  <a:avLst>
                    <a:gd name="adj" fmla="val 4541"/>
                  </a:avLst>
                </a:prstGeom>
                <a:solidFill>
                  <a:schemeClr val="bg1"/>
                </a:solidFill>
                <a:ln w="127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46" name="TextBox 145"/>
                <p:cNvSpPr txBox="1"/>
                <p:nvPr/>
              </p:nvSpPr>
              <p:spPr>
                <a:xfrm>
                  <a:off x="5249063" y="1239545"/>
                  <a:ext cx="1839768" cy="18418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081BD"/>
                </a:solidFill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/>
                  <a:r>
                    <a:rPr lang="en-US" sz="1050" b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Arial"/>
                    </a:rPr>
                    <a:t>Fully trainable</a:t>
                  </a:r>
                </a:p>
              </p:txBody>
            </p:sp>
            <p:sp>
              <p:nvSpPr>
                <p:cNvPr id="49" name="TextBox 48"/>
                <p:cNvSpPr txBox="1"/>
                <p:nvPr/>
              </p:nvSpPr>
              <p:spPr>
                <a:xfrm>
                  <a:off x="5134095" y="2822225"/>
                  <a:ext cx="2166050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lang="en-US" sz="900" b="1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3975A6"/>
                      </a:solidFill>
                      <a:latin typeface="Arial"/>
                    </a:rPr>
                    <a:t>Trainable</a:t>
                  </a:r>
                  <a:endParaRPr sz="90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3975A6"/>
                    </a:solidFill>
                    <a:latin typeface="Arial"/>
                  </a:endParaRPr>
                </a:p>
              </p:txBody>
            </p:sp>
            <p:pic>
              <p:nvPicPr>
                <p:cNvPr id="149" name="그림 148"/>
                <p:cNvPicPr>
                  <a:picLocks noChangeAspect="1"/>
                </p:cNvPicPr>
                <p:nvPr/>
              </p:nvPicPr>
              <p:blipFill>
                <a:blip r:embed="rId14" cstate="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33074" y="1479379"/>
                  <a:ext cx="205148" cy="207121"/>
                </a:xfrm>
                <a:prstGeom prst="rect">
                  <a:avLst/>
                </a:prstGeom>
              </p:spPr>
            </p:pic>
            <p:pic>
              <p:nvPicPr>
                <p:cNvPr id="150" name="그림 149"/>
                <p:cNvPicPr>
                  <a:picLocks noChangeAspect="1"/>
                </p:cNvPicPr>
                <p:nvPr/>
              </p:nvPicPr>
              <p:blipFill>
                <a:blip r:embed="rId14" cstate="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33074" y="1733407"/>
                  <a:ext cx="205148" cy="207121"/>
                </a:xfrm>
                <a:prstGeom prst="rect">
                  <a:avLst/>
                </a:prstGeom>
              </p:spPr>
            </p:pic>
            <p:pic>
              <p:nvPicPr>
                <p:cNvPr id="152" name="그림 151"/>
                <p:cNvPicPr>
                  <a:picLocks noChangeAspect="1"/>
                </p:cNvPicPr>
                <p:nvPr/>
              </p:nvPicPr>
              <p:blipFill>
                <a:blip r:embed="rId14" cstate="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33074" y="2001914"/>
                  <a:ext cx="205148" cy="207121"/>
                </a:xfrm>
                <a:prstGeom prst="rect">
                  <a:avLst/>
                </a:prstGeom>
              </p:spPr>
            </p:pic>
            <p:pic>
              <p:nvPicPr>
                <p:cNvPr id="153" name="그림 152"/>
                <p:cNvPicPr>
                  <a:picLocks noChangeAspect="1"/>
                </p:cNvPicPr>
                <p:nvPr/>
              </p:nvPicPr>
              <p:blipFill>
                <a:blip r:embed="rId14" cstate="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33074" y="2273176"/>
                  <a:ext cx="205148" cy="207121"/>
                </a:xfrm>
                <a:prstGeom prst="rect">
                  <a:avLst/>
                </a:prstGeom>
              </p:spPr>
            </p:pic>
            <p:sp>
              <p:nvSpPr>
                <p:cNvPr id="1034" name="직사각형 1033"/>
                <p:cNvSpPr/>
                <p:nvPr/>
              </p:nvSpPr>
              <p:spPr>
                <a:xfrm>
                  <a:off x="5394962" y="1303250"/>
                  <a:ext cx="1184940" cy="3942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63450">
                    <a:lnSpc>
                      <a:spcPct val="250000"/>
                    </a:lnSpc>
                    <a:buClr>
                      <a:srgbClr val="029BC2"/>
                    </a:buClr>
                  </a:pPr>
                  <a:r>
                    <a:rPr lang="en-US" altLang="ko-KR" sz="950" b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2081BD"/>
                      </a:solidFill>
                      <a:latin typeface="Arial"/>
                    </a:rPr>
                    <a:t>1-Channel stem </a:t>
                  </a:r>
                  <a:endParaRPr lang="ko-KR" altLang="en-US" sz="95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2081BD"/>
                    </a:solidFill>
                    <a:latin typeface="Arial"/>
                  </a:endParaRPr>
                </a:p>
              </p:txBody>
            </p:sp>
            <p:sp>
              <p:nvSpPr>
                <p:cNvPr id="155" name="직사각형 154"/>
                <p:cNvSpPr/>
                <p:nvPr/>
              </p:nvSpPr>
              <p:spPr>
                <a:xfrm>
                  <a:off x="5394962" y="1550928"/>
                  <a:ext cx="1058303" cy="3942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63450">
                    <a:lnSpc>
                      <a:spcPct val="250000"/>
                    </a:lnSpc>
                    <a:buClr>
                      <a:srgbClr val="029BC2"/>
                    </a:buClr>
                  </a:pPr>
                  <a:r>
                    <a:rPr lang="en-US" altLang="ko-KR" sz="950" b="1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2081BD"/>
                      </a:solidFill>
                      <a:latin typeface="Arial"/>
                    </a:rPr>
                    <a:t>Normalisation</a:t>
                  </a:r>
                  <a:endParaRPr lang="en-US" altLang="ko-KR" sz="950" b="1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rgbClr val="2081BD"/>
                    </a:solidFill>
                    <a:latin typeface="Arial"/>
                  </a:endParaRPr>
                </a:p>
              </p:txBody>
            </p:sp>
            <p:sp>
              <p:nvSpPr>
                <p:cNvPr id="156" name="직사각형 155"/>
                <p:cNvSpPr/>
                <p:nvPr/>
              </p:nvSpPr>
              <p:spPr>
                <a:xfrm>
                  <a:off x="5394962" y="1832135"/>
                  <a:ext cx="912429" cy="3942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63450">
                    <a:lnSpc>
                      <a:spcPct val="250000"/>
                    </a:lnSpc>
                    <a:buClr>
                      <a:srgbClr val="029BC2"/>
                    </a:buClr>
                  </a:pPr>
                  <a:r>
                    <a:rPr lang="en-US" altLang="ko-KR" sz="950" b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2081BD"/>
                      </a:solidFill>
                      <a:latin typeface="Arial"/>
                    </a:rPr>
                    <a:t>Parameters</a:t>
                  </a:r>
                </a:p>
              </p:txBody>
            </p:sp>
            <p:sp>
              <p:nvSpPr>
                <p:cNvPr id="157" name="직사각형 156"/>
                <p:cNvSpPr/>
                <p:nvPr/>
              </p:nvSpPr>
              <p:spPr>
                <a:xfrm>
                  <a:off x="5394962" y="2103397"/>
                  <a:ext cx="734496" cy="3942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63450">
                    <a:lnSpc>
                      <a:spcPct val="250000"/>
                    </a:lnSpc>
                    <a:buClr>
                      <a:srgbClr val="029BC2"/>
                    </a:buClr>
                  </a:pPr>
                  <a:r>
                    <a:rPr lang="en-US" altLang="ko-KR" sz="950" b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2081BD"/>
                      </a:solidFill>
                      <a:latin typeface="Arial"/>
                    </a:rPr>
                    <a:t>Decoder</a:t>
                  </a:r>
                </a:p>
              </p:txBody>
            </p:sp>
            <p:pic>
              <p:nvPicPr>
                <p:cNvPr id="158" name="그림 157"/>
                <p:cNvPicPr>
                  <a:picLocks noChangeAspect="1"/>
                </p:cNvPicPr>
                <p:nvPr/>
              </p:nvPicPr>
              <p:blipFill>
                <a:blip r:embed="rId14" cstate="print">
                  <a:duotone>
                    <a:schemeClr val="accent1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33074" y="2541190"/>
                  <a:ext cx="205148" cy="207121"/>
                </a:xfrm>
                <a:prstGeom prst="rect">
                  <a:avLst/>
                </a:prstGeom>
              </p:spPr>
            </p:pic>
            <p:sp>
              <p:nvSpPr>
                <p:cNvPr id="159" name="직사각형 158"/>
                <p:cNvSpPr/>
                <p:nvPr/>
              </p:nvSpPr>
              <p:spPr>
                <a:xfrm>
                  <a:off x="5394962" y="2371411"/>
                  <a:ext cx="545342" cy="3942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63450">
                    <a:lnSpc>
                      <a:spcPct val="250000"/>
                    </a:lnSpc>
                    <a:buClr>
                      <a:srgbClr val="029BC2"/>
                    </a:buClr>
                  </a:pPr>
                  <a:r>
                    <a:rPr lang="en-US" altLang="ko-KR" sz="950" b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2081BD"/>
                      </a:solidFill>
                      <a:latin typeface="Arial"/>
                    </a:rPr>
                    <a:t>Head</a:t>
                  </a:r>
                </a:p>
              </p:txBody>
            </p:sp>
            <p:cxnSp>
              <p:nvCxnSpPr>
                <p:cNvPr id="160" name="직선 연결선 159"/>
                <p:cNvCxnSpPr/>
                <p:nvPr/>
              </p:nvCxnSpPr>
              <p:spPr>
                <a:xfrm>
                  <a:off x="5346839" y="1709121"/>
                  <a:ext cx="1657211" cy="0"/>
                </a:xfrm>
                <a:prstGeom prst="line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7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64" name="직선 연결선 163"/>
                <p:cNvCxnSpPr/>
                <p:nvPr/>
              </p:nvCxnSpPr>
              <p:spPr>
                <a:xfrm>
                  <a:off x="5346839" y="1975821"/>
                  <a:ext cx="1657211" cy="0"/>
                </a:xfrm>
                <a:prstGeom prst="line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7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65" name="직선 연결선 164"/>
                <p:cNvCxnSpPr/>
                <p:nvPr/>
              </p:nvCxnSpPr>
              <p:spPr>
                <a:xfrm>
                  <a:off x="5346839" y="2242521"/>
                  <a:ext cx="1657211" cy="0"/>
                </a:xfrm>
                <a:prstGeom prst="line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7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66" name="직선 연결선 165"/>
                <p:cNvCxnSpPr>
                  <a:endCxn id="1037" idx="1"/>
                </p:cNvCxnSpPr>
                <p:nvPr/>
              </p:nvCxnSpPr>
              <p:spPr>
                <a:xfrm flipV="1">
                  <a:off x="5346839" y="2498760"/>
                  <a:ext cx="1076952" cy="10462"/>
                </a:xfrm>
                <a:prstGeom prst="line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7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pic>
              <p:nvPicPr>
                <p:cNvPr id="1037" name="그림 1036"/>
                <p:cNvPicPr>
                  <a:picLocks noChangeAspect="1"/>
                </p:cNvPicPr>
                <p:nvPr/>
              </p:nvPicPr>
              <p:blipFill>
                <a:blip r:embed="rId1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423791" y="2140309"/>
                  <a:ext cx="710073" cy="716901"/>
                </a:xfrm>
                <a:prstGeom prst="rect">
                  <a:avLst/>
                </a:prstGeom>
              </p:spPr>
            </p:pic>
            <p:sp>
              <p:nvSpPr>
                <p:cNvPr id="169" name="Rounded Rectangle 24"/>
                <p:cNvSpPr/>
                <p:nvPr/>
              </p:nvSpPr>
              <p:spPr>
                <a:xfrm>
                  <a:off x="5190197" y="3281705"/>
                  <a:ext cx="1937067" cy="2817111"/>
                </a:xfrm>
                <a:prstGeom prst="roundRect">
                  <a:avLst>
                    <a:gd name="adj" fmla="val 4541"/>
                  </a:avLst>
                </a:prstGeom>
                <a:solidFill>
                  <a:schemeClr val="bg1"/>
                </a:solidFill>
                <a:ln w="12700"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/>
                </a:p>
              </p:txBody>
            </p:sp>
            <p:sp>
              <p:nvSpPr>
                <p:cNvPr id="170" name="TextBox 169"/>
                <p:cNvSpPr txBox="1"/>
                <p:nvPr/>
              </p:nvSpPr>
              <p:spPr>
                <a:xfrm>
                  <a:off x="5249063" y="3376321"/>
                  <a:ext cx="1839768" cy="184181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2081BD"/>
                </a:solidFill>
              </p:spPr>
              <p:txBody>
                <a:bodyPr wrap="square" lIns="0" tIns="0" rIns="0" bIns="0" anchor="ctr">
                  <a:noAutofit/>
                </a:bodyPr>
                <a:lstStyle/>
                <a:p>
                  <a:pPr algn="ctr"/>
                  <a:r>
                    <a:rPr lang="en-US" sz="1050" b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bg1"/>
                      </a:solidFill>
                      <a:latin typeface="Arial"/>
                    </a:rPr>
                    <a:t>5-Class prediction M</a:t>
                  </a:r>
                </a:p>
              </p:txBody>
            </p:sp>
            <p:pic>
              <p:nvPicPr>
                <p:cNvPr id="52" name="p3_mask.png" descr="p3_mask.png"/>
                <p:cNvPicPr>
                  <a:picLocks noChangeAspect="1"/>
                </p:cNvPicPr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377280" y="3611781"/>
                  <a:ext cx="1583860" cy="1583860"/>
                </a:xfrm>
                <a:prstGeom prst="rect">
                  <a:avLst/>
                </a:prstGeom>
              </p:spPr>
            </p:pic>
            <p:grpSp>
              <p:nvGrpSpPr>
                <p:cNvPr id="1038" name="그룹 1037"/>
                <p:cNvGrpSpPr/>
                <p:nvPr/>
              </p:nvGrpSpPr>
              <p:grpSpPr>
                <a:xfrm>
                  <a:off x="5394962" y="5248268"/>
                  <a:ext cx="1547178" cy="287579"/>
                  <a:chOff x="5382262" y="5641593"/>
                  <a:chExt cx="1538338" cy="176820"/>
                </a:xfrm>
              </p:grpSpPr>
              <p:sp>
                <p:nvSpPr>
                  <p:cNvPr id="53" name="Rectangle 52"/>
                  <p:cNvSpPr/>
                  <p:nvPr/>
                </p:nvSpPr>
                <p:spPr>
                  <a:xfrm>
                    <a:off x="5382262" y="5641593"/>
                    <a:ext cx="265231" cy="176820"/>
                  </a:xfrm>
                  <a:prstGeom prst="roundRect">
                    <a:avLst/>
                  </a:prstGeom>
                  <a:solidFill>
                    <a:srgbClr val="404040"/>
                  </a:solidFill>
                  <a:ln w="762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  <a:endParaRPr sz="200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</a:endParaRPr>
                  </a:p>
                </p:txBody>
              </p:sp>
              <p:sp>
                <p:nvSpPr>
                  <p:cNvPr id="54" name="TextBox 53"/>
                  <p:cNvSpPr txBox="1"/>
                  <p:nvPr/>
                </p:nvSpPr>
                <p:spPr>
                  <a:xfrm>
                    <a:off x="5382262" y="5653388"/>
                    <a:ext cx="265231" cy="153233"/>
                  </a:xfrm>
                  <a:prstGeom prst="round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9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FFFFFF"/>
                        </a:solidFill>
                        <a:latin typeface="Arial"/>
                      </a:rPr>
                      <a:t>0</a:t>
                    </a:r>
                  </a:p>
                </p:txBody>
              </p:sp>
              <p:sp>
                <p:nvSpPr>
                  <p:cNvPr id="55" name="Rectangle 54"/>
                  <p:cNvSpPr/>
                  <p:nvPr/>
                </p:nvSpPr>
                <p:spPr>
                  <a:xfrm>
                    <a:off x="5700539" y="5641593"/>
                    <a:ext cx="265231" cy="176820"/>
                  </a:xfrm>
                  <a:prstGeom prst="roundRect">
                    <a:avLst/>
                  </a:prstGeom>
                  <a:solidFill>
                    <a:srgbClr val="0072B2"/>
                  </a:solidFill>
                  <a:ln w="762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  <a:endParaRPr sz="200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</a:endParaRPr>
                  </a:p>
                </p:txBody>
              </p:sp>
              <p:sp>
                <p:nvSpPr>
                  <p:cNvPr id="56" name="TextBox 55"/>
                  <p:cNvSpPr txBox="1"/>
                  <p:nvPr/>
                </p:nvSpPr>
                <p:spPr>
                  <a:xfrm>
                    <a:off x="5700539" y="5653388"/>
                    <a:ext cx="265231" cy="153233"/>
                  </a:xfrm>
                  <a:prstGeom prst="round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9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FFFFFF"/>
                        </a:solidFill>
                        <a:latin typeface="Arial"/>
                      </a:rPr>
                      <a:t>1</a:t>
                    </a:r>
                  </a:p>
                </p:txBody>
              </p:sp>
              <p:sp>
                <p:nvSpPr>
                  <p:cNvPr id="57" name="Rectangle 56"/>
                  <p:cNvSpPr/>
                  <p:nvPr/>
                </p:nvSpPr>
                <p:spPr>
                  <a:xfrm>
                    <a:off x="6018816" y="5641593"/>
                    <a:ext cx="265231" cy="176820"/>
                  </a:xfrm>
                  <a:prstGeom prst="roundRect">
                    <a:avLst/>
                  </a:prstGeom>
                  <a:solidFill>
                    <a:srgbClr val="009E73"/>
                  </a:solidFill>
                  <a:ln w="762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  <a:endParaRPr sz="200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</a:endParaRPr>
                  </a:p>
                </p:txBody>
              </p:sp>
              <p:sp>
                <p:nvSpPr>
                  <p:cNvPr id="58" name="TextBox 57"/>
                  <p:cNvSpPr txBox="1"/>
                  <p:nvPr/>
                </p:nvSpPr>
                <p:spPr>
                  <a:xfrm>
                    <a:off x="6018816" y="5653388"/>
                    <a:ext cx="265231" cy="153233"/>
                  </a:xfrm>
                  <a:prstGeom prst="round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9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FFFFFF"/>
                        </a:solidFill>
                        <a:latin typeface="Arial"/>
                      </a:rPr>
                      <a:t>2</a:t>
                    </a:r>
                  </a:p>
                </p:txBody>
              </p:sp>
              <p:sp>
                <p:nvSpPr>
                  <p:cNvPr id="59" name="Rectangle 58"/>
                  <p:cNvSpPr/>
                  <p:nvPr/>
                </p:nvSpPr>
                <p:spPr>
                  <a:xfrm>
                    <a:off x="6337092" y="5641593"/>
                    <a:ext cx="265231" cy="176820"/>
                  </a:xfrm>
                  <a:prstGeom prst="roundRect">
                    <a:avLst/>
                  </a:prstGeom>
                  <a:solidFill>
                    <a:srgbClr val="D55E00"/>
                  </a:solidFill>
                  <a:ln w="762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  <a:endParaRPr sz="200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</a:endParaRPr>
                  </a:p>
                </p:txBody>
              </p:sp>
              <p:sp>
                <p:nvSpPr>
                  <p:cNvPr id="60" name="TextBox 59"/>
                  <p:cNvSpPr txBox="1"/>
                  <p:nvPr/>
                </p:nvSpPr>
                <p:spPr>
                  <a:xfrm>
                    <a:off x="6337092" y="5653388"/>
                    <a:ext cx="265231" cy="153233"/>
                  </a:xfrm>
                  <a:prstGeom prst="round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Arial"/>
                      </a:rPr>
                      <a:t>3</a:t>
                    </a:r>
                  </a:p>
                </p:txBody>
              </p:sp>
              <p:sp>
                <p:nvSpPr>
                  <p:cNvPr id="61" name="Rectangle 60"/>
                  <p:cNvSpPr/>
                  <p:nvPr/>
                </p:nvSpPr>
                <p:spPr>
                  <a:xfrm>
                    <a:off x="6655369" y="5641593"/>
                    <a:ext cx="265231" cy="176820"/>
                  </a:xfrm>
                  <a:prstGeom prst="roundRect">
                    <a:avLst/>
                  </a:prstGeom>
                  <a:solidFill>
                    <a:srgbClr val="CC79A7"/>
                  </a:solidFill>
                  <a:ln w="7620"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/>
                  <a:lstStyle/>
                  <a:p>
                    <a:pPr algn="ctr"/>
                    <a:endParaRPr sz="200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</a:endParaRPr>
                  </a:p>
                </p:txBody>
              </p:sp>
              <p:sp>
                <p:nvSpPr>
                  <p:cNvPr id="62" name="TextBox 61"/>
                  <p:cNvSpPr txBox="1"/>
                  <p:nvPr/>
                </p:nvSpPr>
                <p:spPr>
                  <a:xfrm>
                    <a:off x="6655369" y="5653388"/>
                    <a:ext cx="265231" cy="153233"/>
                  </a:xfrm>
                  <a:prstGeom prst="roundRect">
                    <a:avLst/>
                  </a:prstGeom>
                  <a:noFill/>
                  <a:ln>
                    <a:noFill/>
                  </a:ln>
                </p:spPr>
                <p:txBody>
                  <a:bodyPr wrap="square" lIns="0" tIns="0" rIns="0" bIns="0" anchor="ctr">
                    <a:spAutoFit/>
                  </a:bodyPr>
                  <a:lstStyle/>
                  <a:p>
                    <a:pPr algn="ctr"/>
                    <a:r>
                      <a:rPr sz="9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rgbClr val="333333"/>
                        </a:solidFill>
                        <a:latin typeface="Arial"/>
                      </a:rPr>
                      <a:t>4</a:t>
                    </a:r>
                  </a:p>
                </p:txBody>
              </p:sp>
            </p:grpSp>
            <p:sp>
              <p:nvSpPr>
                <p:cNvPr id="63" name="TextBox 62"/>
                <p:cNvSpPr txBox="1"/>
                <p:nvPr/>
              </p:nvSpPr>
              <p:spPr>
                <a:xfrm>
                  <a:off x="5558321" y="5610071"/>
                  <a:ext cx="1040893" cy="41549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sz="75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Background</a:t>
                  </a:r>
                  <a:br>
                    <a:rPr lang="en-US" sz="75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</a:br>
                  <a:r>
                    <a:rPr lang="en-US" sz="750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Discocyte</a:t>
                  </a:r>
                  <a:br>
                    <a:rPr lang="en-US" sz="75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</a:br>
                  <a:r>
                    <a:rPr lang="en-US" sz="75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Spherocyte</a:t>
                  </a:r>
                </a:p>
              </p:txBody>
            </p:sp>
            <p:pic>
              <p:nvPicPr>
                <p:cNvPr id="179" name="그림 178"/>
                <p:cNvPicPr>
                  <a:picLocks noChangeAspect="1"/>
                </p:cNvPicPr>
                <p:nvPr/>
              </p:nvPicPr>
              <p:blipFill>
                <a:blip r:embed="rId17" cstate="print">
                  <a:extLst>
                    <a:ext uri="{BEBA8EAE-BF5A-486C-A8C5-ECC9F3942E4B}">
                      <a14:imgProps xmlns:a14="http://schemas.microsoft.com/office/drawing/2010/main">
                        <a14:imgLayer r:embed="rId18">
                          <a14:imgEffect>
                            <a14:brightnessContrast bright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392177" y="1168598"/>
                  <a:ext cx="306762" cy="309713"/>
                </a:xfrm>
                <a:prstGeom prst="rect">
                  <a:avLst/>
                </a:prstGeom>
              </p:spPr>
            </p:pic>
            <p:cxnSp>
              <p:nvCxnSpPr>
                <p:cNvPr id="195" name="직선 연결선 194"/>
                <p:cNvCxnSpPr/>
                <p:nvPr/>
              </p:nvCxnSpPr>
              <p:spPr>
                <a:xfrm>
                  <a:off x="7709143" y="2444303"/>
                  <a:ext cx="1657211" cy="0"/>
                </a:xfrm>
                <a:prstGeom prst="line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8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pic>
              <p:nvPicPr>
                <p:cNvPr id="1044" name="그림 1043"/>
                <p:cNvPicPr>
                  <a:picLocks noChangeAspect="1"/>
                </p:cNvPicPr>
                <p:nvPr/>
              </p:nvPicPr>
              <p:blipFill>
                <a:blip r:embed="rId19" cstate="print">
                  <a:duotone>
                    <a:schemeClr val="accent5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60315" y="1954166"/>
                  <a:ext cx="181477" cy="183222"/>
                </a:xfrm>
                <a:prstGeom prst="rect">
                  <a:avLst/>
                </a:prstGeom>
              </p:spPr>
            </p:pic>
            <p:sp>
              <p:nvSpPr>
                <p:cNvPr id="207" name="Rounded Rectangle 64"/>
                <p:cNvSpPr/>
                <p:nvPr/>
              </p:nvSpPr>
              <p:spPr>
                <a:xfrm>
                  <a:off x="7634429" y="2518548"/>
                  <a:ext cx="1789709" cy="707281"/>
                </a:xfrm>
                <a:prstGeom prst="roundRect">
                  <a:avLst>
                    <a:gd name="adj" fmla="val 8000"/>
                  </a:avLst>
                </a:prstGeom>
                <a:noFill/>
                <a:ln w="1143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8" name="TextBox 207"/>
                    <p:cNvSpPr txBox="1"/>
                    <p:nvPr/>
                  </p:nvSpPr>
                  <p:spPr>
                    <a:xfrm>
                      <a:off x="7709143" y="2545724"/>
                      <a:ext cx="1121081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l-GR" altLang="ko-KR" sz="1200" b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𝝀</m:t>
                          </m:r>
                          <m:r>
                            <a:rPr lang="el-GR" altLang="ko-KR" sz="1200" b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₁ </m:t>
                          </m:r>
                          <m:r>
                            <a:rPr lang="el-GR" altLang="ko-KR" sz="1200" b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  <m:r>
                            <a:rPr lang="el-GR" altLang="ko-KR" sz="1200" b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a14:m>
                      <a:r>
                        <a:rPr lang="en-US" altLang="ko-KR" sz="12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4B94"/>
                          </a:solidFill>
                          <a:latin typeface="Arial"/>
                        </a:rPr>
                        <a:t>PMC</a:t>
                      </a:r>
                    </a:p>
                  </p:txBody>
                </p:sp>
              </mc:Choice>
              <mc:Fallback xmlns="">
                <p:sp>
                  <p:nvSpPr>
                    <p:cNvPr id="208" name="TextBox 207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709143" y="2545724"/>
                      <a:ext cx="1121081" cy="184666"/>
                    </a:xfrm>
                    <a:prstGeom prst="rect">
                      <a:avLst/>
                    </a:prstGeom>
                    <a:blipFill>
                      <a:blip r:embed="rId20"/>
                      <a:stretch>
                        <a:fillRect l="-108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09" name="TextBox 208"/>
                <p:cNvSpPr txBox="1"/>
                <p:nvPr/>
              </p:nvSpPr>
              <p:spPr>
                <a:xfrm>
                  <a:off x="7854956" y="2757477"/>
                  <a:ext cx="1564909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r>
                    <a:rPr lang="en-US" altLang="ko-KR" sz="1000" b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Phase-mask contrast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0" name="TextBox 209"/>
                    <p:cNvSpPr txBox="1"/>
                    <p:nvPr/>
                  </p:nvSpPr>
                  <p:spPr>
                    <a:xfrm>
                      <a:off x="7828310" y="2956376"/>
                      <a:ext cx="2003828" cy="2923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marL="171450" indent="-72000">
                        <a:buClr>
                          <a:schemeClr val="bg1">
                            <a:lumMod val="75000"/>
                          </a:schemeClr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50" i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</a:rPr>
                        <a:t>Cell phase &gt; background</a:t>
                      </a:r>
                    </a:p>
                    <a:p>
                      <a:pPr marL="171450" indent="-72000">
                        <a:buClr>
                          <a:schemeClr val="bg1">
                            <a:lumMod val="75000"/>
                          </a:schemeClr>
                        </a:buClr>
                        <a:buFont typeface="Arial" panose="020B0604020202020204" pitchFamily="34" charset="0"/>
                        <a:buChar char="•"/>
                      </a:pPr>
                      <a14:m>
                        <m:oMath xmlns:m="http://schemas.openxmlformats.org/officeDocument/2006/math">
                          <m:r>
                            <a:rPr lang="en-US" sz="950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sz="950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₁</m:t>
                          </m:r>
                        </m:oMath>
                      </a14:m>
                      <a:r>
                        <a:rPr lang="en-US" sz="950" i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</a:rPr>
                        <a:t> = 0.10</a:t>
                      </a:r>
                    </a:p>
                  </p:txBody>
                </p:sp>
              </mc:Choice>
              <mc:Fallback xmlns="">
                <p:sp>
                  <p:nvSpPr>
                    <p:cNvPr id="210" name="TextBox 20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28310" y="2956376"/>
                      <a:ext cx="2003828" cy="292388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11" name="직선 연결선 210"/>
                <p:cNvCxnSpPr/>
                <p:nvPr/>
              </p:nvCxnSpPr>
              <p:spPr>
                <a:xfrm>
                  <a:off x="7709143" y="3337805"/>
                  <a:ext cx="1657211" cy="0"/>
                </a:xfrm>
                <a:prstGeom prst="line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8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pic>
              <p:nvPicPr>
                <p:cNvPr id="212" name="그림 211"/>
                <p:cNvPicPr>
                  <a:picLocks noChangeAspect="1"/>
                </p:cNvPicPr>
                <p:nvPr/>
              </p:nvPicPr>
              <p:blipFill>
                <a:blip r:embed="rId19" cstate="print">
                  <a:duotone>
                    <a:schemeClr val="accent5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60315" y="2754952"/>
                  <a:ext cx="181477" cy="183222"/>
                </a:xfrm>
                <a:prstGeom prst="rect">
                  <a:avLst/>
                </a:prstGeom>
              </p:spPr>
            </p:pic>
            <p:sp>
              <p:nvSpPr>
                <p:cNvPr id="213" name="Rounded Rectangle 64"/>
                <p:cNvSpPr/>
                <p:nvPr/>
              </p:nvSpPr>
              <p:spPr>
                <a:xfrm>
                  <a:off x="7634429" y="3432948"/>
                  <a:ext cx="1789709" cy="707281"/>
                </a:xfrm>
                <a:prstGeom prst="roundRect">
                  <a:avLst>
                    <a:gd name="adj" fmla="val 8000"/>
                  </a:avLst>
                </a:prstGeom>
                <a:noFill/>
                <a:ln w="1143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4" name="TextBox 213"/>
                    <p:cNvSpPr txBox="1"/>
                    <p:nvPr/>
                  </p:nvSpPr>
                  <p:spPr>
                    <a:xfrm>
                      <a:off x="7709143" y="3460124"/>
                      <a:ext cx="1121081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l-GR" altLang="ko-KR" sz="1200" b="1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𝝀</m:t>
                          </m:r>
                          <m:r>
                            <a:rPr lang="el-GR" altLang="ko-KR" sz="1200" b="1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₂ </m:t>
                          </m:r>
                          <m:r>
                            <a:rPr lang="el-GR" altLang="ko-KR" sz="1200" b="1" i="1" dirty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  <m:r>
                            <a:rPr lang="el-GR" altLang="ko-KR" sz="1200" b="1" i="1" dirty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a14:m>
                      <a:r>
                        <a:rPr lang="en-US" altLang="ko-KR" sz="12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4B94"/>
                          </a:solidFill>
                          <a:latin typeface="Arial"/>
                        </a:rPr>
                        <a:t>BGA</a:t>
                      </a:r>
                    </a:p>
                  </p:txBody>
                </p:sp>
              </mc:Choice>
              <mc:Fallback xmlns="">
                <p:sp>
                  <p:nvSpPr>
                    <p:cNvPr id="214" name="TextBox 21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709143" y="3460124"/>
                      <a:ext cx="1121081" cy="184666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 l="-108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15" name="TextBox 214"/>
                <p:cNvSpPr txBox="1"/>
                <p:nvPr/>
              </p:nvSpPr>
              <p:spPr>
                <a:xfrm>
                  <a:off x="7854956" y="3682843"/>
                  <a:ext cx="1853024" cy="1461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r>
                    <a:rPr lang="en-US" altLang="ko-KR" sz="950" b="1" spc="-3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Boundary-gradient alignment</a:t>
                  </a: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6" name="TextBox 215"/>
                    <p:cNvSpPr txBox="1"/>
                    <p:nvPr/>
                  </p:nvSpPr>
                  <p:spPr>
                    <a:xfrm>
                      <a:off x="7828310" y="3884586"/>
                      <a:ext cx="2003828" cy="2923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marL="171450" indent="-72000">
                        <a:buClr>
                          <a:schemeClr val="bg1">
                            <a:lumMod val="75000"/>
                          </a:schemeClr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50" i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</a:rPr>
                        <a:t>Contour on </a:t>
                      </a:r>
                      <a14:m>
                        <m:oMath xmlns:m="http://schemas.openxmlformats.org/officeDocument/2006/math">
                          <m:r>
                            <a:rPr lang="en-US" sz="950" i="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𝛻</m:t>
                          </m:r>
                          <m:r>
                            <a:rPr lang="el-GR" sz="950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  <m:r>
                            <a:rPr lang="el-GR" sz="950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a14:m>
                      <a:r>
                        <a:rPr lang="en-US" sz="950" i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</a:rPr>
                        <a:t>ridge</a:t>
                      </a:r>
                    </a:p>
                    <a:p>
                      <a:pPr marL="171450" indent="-72000">
                        <a:buClr>
                          <a:schemeClr val="bg1">
                            <a:lumMod val="75000"/>
                          </a:schemeClr>
                        </a:buClr>
                        <a:buFont typeface="Arial" panose="020B0604020202020204" pitchFamily="34" charset="0"/>
                        <a:buChar char="•"/>
                      </a:pPr>
                      <a14:m>
                        <m:oMath xmlns:m="http://schemas.openxmlformats.org/officeDocument/2006/math">
                          <m:r>
                            <a:rPr lang="el-GR" sz="950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l-GR" sz="950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₂ </m:t>
                          </m:r>
                        </m:oMath>
                      </a14:m>
                      <a:r>
                        <a:rPr lang="el-GR" sz="950" i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</a:rPr>
                        <a:t>= 0.05</a:t>
                      </a:r>
                    </a:p>
                  </p:txBody>
                </p:sp>
              </mc:Choice>
              <mc:Fallback xmlns="">
                <p:sp>
                  <p:nvSpPr>
                    <p:cNvPr id="216" name="TextBox 21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28310" y="3884586"/>
                      <a:ext cx="2003828" cy="292388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217" name="직선 연결선 216"/>
                <p:cNvCxnSpPr/>
                <p:nvPr/>
              </p:nvCxnSpPr>
              <p:spPr>
                <a:xfrm>
                  <a:off x="7709143" y="4311116"/>
                  <a:ext cx="1657211" cy="0"/>
                </a:xfrm>
                <a:prstGeom prst="line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8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pic>
              <p:nvPicPr>
                <p:cNvPr id="218" name="그림 217"/>
                <p:cNvPicPr>
                  <a:picLocks noChangeAspect="1"/>
                </p:cNvPicPr>
                <p:nvPr/>
              </p:nvPicPr>
              <p:blipFill>
                <a:blip r:embed="rId19" cstate="print">
                  <a:duotone>
                    <a:schemeClr val="accent5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60315" y="3669352"/>
                  <a:ext cx="181477" cy="183222"/>
                </a:xfrm>
                <a:prstGeom prst="rect">
                  <a:avLst/>
                </a:prstGeom>
              </p:spPr>
            </p:pic>
            <p:sp>
              <p:nvSpPr>
                <p:cNvPr id="219" name="Rounded Rectangle 64"/>
                <p:cNvSpPr/>
                <p:nvPr/>
              </p:nvSpPr>
              <p:spPr>
                <a:xfrm>
                  <a:off x="7634429" y="4583568"/>
                  <a:ext cx="1789709" cy="707281"/>
                </a:xfrm>
                <a:prstGeom prst="roundRect">
                  <a:avLst>
                    <a:gd name="adj" fmla="val 8000"/>
                  </a:avLst>
                </a:prstGeom>
                <a:noFill/>
                <a:ln w="1143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0" name="TextBox 219"/>
                    <p:cNvSpPr txBox="1"/>
                    <p:nvPr/>
                  </p:nvSpPr>
                  <p:spPr>
                    <a:xfrm>
                      <a:off x="7709143" y="4442846"/>
                      <a:ext cx="1121081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l-GR" altLang="ko-KR" sz="1200" b="1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𝝀</m:t>
                          </m:r>
                          <m:r>
                            <a:rPr lang="el-GR" altLang="ko-KR" sz="1200" b="1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₃ </m:t>
                          </m:r>
                          <m:r>
                            <a:rPr lang="el-GR" altLang="ko-KR" sz="1200" b="1" i="1" dirty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  <m:r>
                            <a:rPr lang="el-GR" altLang="ko-KR" sz="1200" b="1" i="1" dirty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04B94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oMath>
                      </a14:m>
                      <a:r>
                        <a:rPr lang="en-US" altLang="ko-KR" sz="1200" b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rgbClr val="004B94"/>
                          </a:solidFill>
                          <a:latin typeface="Arial"/>
                        </a:rPr>
                        <a:t>IPP</a:t>
                      </a:r>
                    </a:p>
                  </p:txBody>
                </p:sp>
              </mc:Choice>
              <mc:Fallback xmlns="">
                <p:sp>
                  <p:nvSpPr>
                    <p:cNvPr id="220" name="TextBox 21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709143" y="4442846"/>
                      <a:ext cx="1121081" cy="184666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 l="-108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21" name="TextBox 220"/>
                <p:cNvSpPr txBox="1"/>
                <p:nvPr/>
              </p:nvSpPr>
              <p:spPr>
                <a:xfrm>
                  <a:off x="7854956" y="4666987"/>
                  <a:ext cx="1816662" cy="1461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r>
                    <a:rPr lang="en-US" altLang="ko-KR" sz="950" b="1" spc="-3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Integrated-phase preservation</a:t>
                  </a:r>
                </a:p>
              </p:txBody>
            </p:sp>
            <p:pic>
              <p:nvPicPr>
                <p:cNvPr id="223" name="그림 222"/>
                <p:cNvPicPr>
                  <a:picLocks noChangeAspect="1"/>
                </p:cNvPicPr>
                <p:nvPr/>
              </p:nvPicPr>
              <p:blipFill>
                <a:blip r:embed="rId19" cstate="print">
                  <a:duotone>
                    <a:schemeClr val="accent5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60315" y="4652074"/>
                  <a:ext cx="181477" cy="183222"/>
                </a:xfrm>
                <a:prstGeom prst="rect">
                  <a:avLst/>
                </a:prstGeom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4" name="TextBox 223"/>
                    <p:cNvSpPr txBox="1"/>
                    <p:nvPr/>
                  </p:nvSpPr>
                  <p:spPr>
                    <a:xfrm>
                      <a:off x="7828310" y="4869259"/>
                      <a:ext cx="2003828" cy="29238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marL="171450" indent="-72000">
                        <a:buClr>
                          <a:schemeClr val="bg1">
                            <a:lumMod val="75000"/>
                          </a:schemeClr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US" sz="950" i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</a:rPr>
                        <a:t>Conserves optical mass</a:t>
                      </a:r>
                    </a:p>
                    <a:p>
                      <a:pPr marL="171450" indent="-72000">
                        <a:buClr>
                          <a:schemeClr val="bg1">
                            <a:lumMod val="75000"/>
                          </a:schemeClr>
                        </a:buClr>
                        <a:buFont typeface="Arial" panose="020B0604020202020204" pitchFamily="34" charset="0"/>
                        <a:buChar char="•"/>
                      </a:pPr>
                      <a14:m>
                        <m:oMath xmlns:m="http://schemas.openxmlformats.org/officeDocument/2006/math">
                          <m:r>
                            <a:rPr lang="el-GR" sz="950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l-GR" sz="950" i="1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₃ </m:t>
                          </m:r>
                        </m:oMath>
                      </a14:m>
                      <a:r>
                        <a:rPr lang="el-GR" sz="950" i="1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Arial"/>
                        </a:rPr>
                        <a:t>= 0.10</a:t>
                      </a:r>
                    </a:p>
                  </p:txBody>
                </p:sp>
              </mc:Choice>
              <mc:Fallback xmlns="">
                <p:sp>
                  <p:nvSpPr>
                    <p:cNvPr id="224" name="TextBox 22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828310" y="4869259"/>
                      <a:ext cx="2003828" cy="292388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25" name="Rounded Rectangle 64"/>
                <p:cNvSpPr/>
                <p:nvPr/>
              </p:nvSpPr>
              <p:spPr>
                <a:xfrm>
                  <a:off x="9986902" y="3618660"/>
                  <a:ext cx="1789709" cy="707281"/>
                </a:xfrm>
                <a:prstGeom prst="roundRect">
                  <a:avLst>
                    <a:gd name="adj" fmla="val 8000"/>
                  </a:avLst>
                </a:prstGeom>
                <a:noFill/>
                <a:ln w="1143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26" name="TextBox 225"/>
                    <p:cNvSpPr txBox="1"/>
                    <p:nvPr/>
                  </p:nvSpPr>
                  <p:spPr>
                    <a:xfrm>
                      <a:off x="10108456" y="3477938"/>
                      <a:ext cx="1578719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marL="171450" indent="-171450">
                        <a:buClr>
                          <a:srgbClr val="08275F"/>
                        </a:buClr>
                        <a:buFont typeface="Wingdings" panose="05000000000000000000" pitchFamily="2" charset="2"/>
                        <a:buChar char="§"/>
                      </a:pPr>
                      <a14:m>
                        <m:oMath xmlns:m="http://schemas.openxmlformats.org/officeDocument/2006/math">
                          <m:r>
                            <a:rPr lang="en-US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 = </m:t>
                          </m:r>
                          <m:r>
                            <a:rPr lang="en-US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l-GR" altLang="ko-KR" sz="1200" b="1" i="0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𝛀</m:t>
                          </m:r>
                          <m:r>
                            <a:rPr lang="el-GR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 · </m:t>
                          </m:r>
                          <m:r>
                            <a:rPr lang="el-GR" altLang="ko-KR" sz="1200" b="1" i="0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𝚫</m:t>
                          </m:r>
                          <m:r>
                            <a:rPr lang="en-US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²</m:t>
                          </m:r>
                        </m:oMath>
                      </a14:m>
                      <a:endParaRPr/>
                    </a:p>
                  </p:txBody>
                </p:sp>
              </mc:Choice>
              <mc:Fallback xmlns="">
                <p:sp>
                  <p:nvSpPr>
                    <p:cNvPr id="226" name="TextBox 22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108456" y="3477938"/>
                      <a:ext cx="1578719" cy="184666"/>
                    </a:xfrm>
                    <a:prstGeom prst="rect">
                      <a:avLst/>
                    </a:prstGeom>
                    <a:blipFill>
                      <a:blip r:embed="rId2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29" name="TextBox 228"/>
                <p:cNvSpPr txBox="1"/>
                <p:nvPr/>
              </p:nvSpPr>
              <p:spPr>
                <a:xfrm>
                  <a:off x="10203785" y="3684803"/>
                  <a:ext cx="1572826" cy="1461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marL="171450" indent="-72000">
                    <a:buClr>
                      <a:schemeClr val="bg1">
                        <a:lumMod val="75000"/>
                      </a:schemeClr>
                    </a:buClr>
                    <a:buFont typeface="Arial" panose="020B0604020202020204" pitchFamily="34" charset="0"/>
                    <a:buChar char="•"/>
                  </a:pPr>
                  <a:r>
                    <a:rPr lang="en-US" sz="950" i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Projected area</a:t>
                  </a:r>
                </a:p>
              </p:txBody>
            </p:sp>
            <p:cxnSp>
              <p:nvCxnSpPr>
                <p:cNvPr id="230" name="직선 연결선 229"/>
                <p:cNvCxnSpPr/>
                <p:nvPr/>
              </p:nvCxnSpPr>
              <p:spPr>
                <a:xfrm>
                  <a:off x="10081071" y="3337805"/>
                  <a:ext cx="1657211" cy="0"/>
                </a:xfrm>
                <a:prstGeom prst="line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8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31" name="직선 연결선 230"/>
                <p:cNvCxnSpPr/>
                <p:nvPr/>
              </p:nvCxnSpPr>
              <p:spPr>
                <a:xfrm>
                  <a:off x="10081071" y="4007392"/>
                  <a:ext cx="1657211" cy="0"/>
                </a:xfrm>
                <a:prstGeom prst="line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8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232" name="Rounded Rectangle 64"/>
                <p:cNvSpPr/>
                <p:nvPr/>
              </p:nvSpPr>
              <p:spPr>
                <a:xfrm>
                  <a:off x="9986902" y="4269806"/>
                  <a:ext cx="1789709" cy="707281"/>
                </a:xfrm>
                <a:prstGeom prst="roundRect">
                  <a:avLst>
                    <a:gd name="adj" fmla="val 8000"/>
                  </a:avLst>
                </a:prstGeom>
                <a:noFill/>
                <a:ln w="1143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33" name="TextBox 232"/>
                    <p:cNvSpPr txBox="1"/>
                    <p:nvPr/>
                  </p:nvSpPr>
                  <p:spPr>
                    <a:xfrm>
                      <a:off x="10108456" y="4129084"/>
                      <a:ext cx="1159619" cy="1846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anchor="ctr">
                      <a:spAutoFit/>
                    </a:bodyPr>
                    <a:lstStyle/>
                    <a:p>
                      <a:pPr marL="171450" indent="-171450">
                        <a:buClr>
                          <a:srgbClr val="08275F"/>
                        </a:buClr>
                        <a:buFont typeface="Wingdings" panose="05000000000000000000" pitchFamily="2" charset="2"/>
                        <a:buChar char="§"/>
                      </a:pPr>
                      <a14:m>
                        <m:oMath xmlns:m="http://schemas.openxmlformats.org/officeDocument/2006/math">
                          <m:r>
                            <a:rPr lang="en-US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  <m:r>
                            <a:rPr lang="en-US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 = </m:t>
                          </m:r>
                          <m:r>
                            <a:rPr lang="en-US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l-GR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  <m:r>
                            <a:rPr lang="en-US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en-US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 / </m:t>
                          </m:r>
                          <m:r>
                            <a:rPr lang="en-US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  <m:r>
                            <a:rPr lang="en-US" altLang="ko-KR" sz="1200" b="1" i="1" spc="-100" dirty="0" smtClean="0">
                              <a:ln>
                                <a:solidFill>
                                  <a:schemeClr val="accent1">
                                    <a:alpha val="0"/>
                                  </a:schemeClr>
                                </a:solidFill>
                              </a:ln>
                              <a:solidFill>
                                <a:srgbClr val="08275F"/>
                              </a:solidFill>
                              <a:latin typeface="Cambria Math" panose="02040503050406030204" pitchFamily="18" charset="0"/>
                            </a:rPr>
                            <m:t>²</m:t>
                          </m:r>
                        </m:oMath>
                      </a14:m>
                      <a:endParaRPr/>
                    </a:p>
                  </p:txBody>
                </p:sp>
              </mc:Choice>
              <mc:Fallback xmlns="">
                <p:sp>
                  <p:nvSpPr>
                    <p:cNvPr id="233" name="TextBox 23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0108456" y="4129084"/>
                      <a:ext cx="1159619" cy="184666"/>
                    </a:xfrm>
                    <a:prstGeom prst="rect">
                      <a:avLst/>
                    </a:prstGeom>
                    <a:blipFill>
                      <a:blip r:embed="rId2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34" name="TextBox 233"/>
                <p:cNvSpPr txBox="1"/>
                <p:nvPr/>
              </p:nvSpPr>
              <p:spPr>
                <a:xfrm>
                  <a:off x="10203785" y="4345474"/>
                  <a:ext cx="1572826" cy="1461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marL="171450" indent="-72000">
                    <a:buClr>
                      <a:schemeClr val="bg1">
                        <a:lumMod val="75000"/>
                      </a:schemeClr>
                    </a:buClr>
                    <a:buFont typeface="Arial" panose="020B0604020202020204" pitchFamily="34" charset="0"/>
                    <a:buChar char="•"/>
                  </a:pPr>
                  <a:r>
                    <a:rPr lang="en-US" sz="950" i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Circularity</a:t>
                  </a:r>
                </a:p>
              </p:txBody>
            </p:sp>
            <p:cxnSp>
              <p:nvCxnSpPr>
                <p:cNvPr id="235" name="직선 연결선 234"/>
                <p:cNvCxnSpPr/>
                <p:nvPr/>
              </p:nvCxnSpPr>
              <p:spPr>
                <a:xfrm>
                  <a:off x="10081071" y="4629963"/>
                  <a:ext cx="1657211" cy="0"/>
                </a:xfrm>
                <a:prstGeom prst="line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8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236" name="Rounded Rectangle 64"/>
                <p:cNvSpPr/>
                <p:nvPr/>
              </p:nvSpPr>
              <p:spPr>
                <a:xfrm>
                  <a:off x="9986902" y="4921154"/>
                  <a:ext cx="1789709" cy="707281"/>
                </a:xfrm>
                <a:prstGeom prst="roundRect">
                  <a:avLst>
                    <a:gd name="adj" fmla="val 8000"/>
                  </a:avLst>
                </a:prstGeom>
                <a:noFill/>
                <a:ln w="1143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p:sp xmlns:a14="http://schemas.microsoft.com/office/drawing/2010/main">
              <p:nvSpPr>
                <p:cNvPr id="237" name="TextBox 236"/>
                <p:cNvSpPr txBox="1"/>
                <p:nvPr/>
              </p:nvSpPr>
              <p:spPr>
                <a:xfrm>
                  <a:off x="10108456" y="4780432"/>
                  <a:ext cx="1518394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marL="171450" indent="-171450">
                    <a:buClr>
                      <a:srgbClr val="08275F"/>
                    </a:buClr>
                    <a:buFont typeface="Wingdings" panose="05000000000000000000" pitchFamily="2" charset="2"/>
                    <a:buChar char="§"/>
                  </a:pPr>
                  <a:r>
                    <a:rPr lang="en-US" altLang="ko-KR" sz="1200" b="1" i="1" dirty="0" smtClean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8275F"/>
                      </a:solidFill>
                      <a:latin typeface="Cambria Math" panose="02040503050406030204" pitchFamily="18" charset="0"/>
                    </a:rPr>
                    <a:t>𝑺 = 𝚺(𝝓</a:t>
                  </a:r>
                  <a:r>
                    <a:rPr lang="en-US" altLang="ko-KR" sz="1200" b="1" i="1" dirty="0" smtClean="0" baseline="-2500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8275F"/>
                      </a:solidFill>
                      <a:latin typeface="Cambria Math" panose="02040503050406030204" pitchFamily="18" charset="0"/>
                    </a:rPr>
                    <a:t>i</a:t>
                  </a:r>
                  <a:r>
                    <a:rPr lang="en-US" altLang="ko-KR" sz="1200" b="1" i="1" dirty="0" smtClean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8275F"/>
                      </a:solidFill>
                      <a:latin typeface="Cambria Math" panose="02040503050406030204" pitchFamily="18" charset="0"/>
                    </a:rPr>
                    <a:t> − 𝝓</a:t>
                  </a:r>
                  <a:r>
                    <a:rPr lang="en-US" altLang="ko-KR" sz="1200" b="1" i="1" dirty="0" smtClean="0" baseline="-2500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8275F"/>
                      </a:solidFill>
                      <a:latin typeface="Cambria Math" panose="02040503050406030204" pitchFamily="18" charset="0"/>
                    </a:rPr>
                    <a:t>bg</a:t>
                  </a:r>
                  <a:r>
                    <a:rPr lang="en-US" altLang="ko-KR" sz="1200" b="1" i="1" dirty="0" smtClean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8275F"/>
                      </a:solidFill>
                      <a:latin typeface="Cambria Math" panose="02040503050406030204" pitchFamily="18" charset="0"/>
                    </a:rPr>
                    <a:t>) · 𝚫𝒙</a:t>
                  </a:r>
                  <a:r>
                    <a:rPr lang="en-US" altLang="ko-KR" sz="1200" b="1" i="1" dirty="0" smtClean="0" baseline="3000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8275F"/>
                      </a:solidFill>
                      <a:latin typeface="Cambria Math" panose="02040503050406030204" pitchFamily="18" charset="0"/>
                    </a:rPr>
                    <a:t>2</a:t>
                  </a:r>
                  <a:endParaRPr dirty="0"/>
                </a:p>
              </p:txBody>
            </p:sp>
            <p:sp>
              <p:nvSpPr>
                <p:cNvPr id="238" name="TextBox 237"/>
                <p:cNvSpPr txBox="1"/>
                <p:nvPr/>
              </p:nvSpPr>
              <p:spPr>
                <a:xfrm>
                  <a:off x="10146635" y="5000848"/>
                  <a:ext cx="1629976" cy="2923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marL="171450" indent="-72000">
                    <a:buClr>
                      <a:schemeClr val="bg1">
                        <a:lumMod val="75000"/>
                      </a:schemeClr>
                    </a:buClr>
                    <a:buFont typeface="Arial" panose="020B0604020202020204" pitchFamily="34" charset="0"/>
                    <a:buChar char="•"/>
                  </a:pPr>
                  <a:r>
                    <a:rPr lang="en-US" sz="950" i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Phase-integrated</a:t>
                  </a:r>
                  <a:br>
                    <a:rPr lang="en-US" sz="950" i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</a:br>
                  <a:r>
                    <a:rPr lang="en-US" sz="950" i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optical quantity</a:t>
                  </a:r>
                </a:p>
              </p:txBody>
            </p:sp>
            <p:cxnSp>
              <p:nvCxnSpPr>
                <p:cNvPr id="239" name="직선 연결선 238"/>
                <p:cNvCxnSpPr/>
                <p:nvPr/>
              </p:nvCxnSpPr>
              <p:spPr>
                <a:xfrm>
                  <a:off x="10081071" y="5435097"/>
                  <a:ext cx="1657211" cy="0"/>
                </a:xfrm>
                <a:prstGeom prst="line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85000"/>
                    </a:schemeClr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 xmlns:a14="http://schemas.microsoft.com/office/drawing/2010/main">
              <p:nvSpPr>
                <p:cNvPr id="240" name="TextBox 239"/>
                <p:cNvSpPr txBox="1"/>
                <p:nvPr/>
              </p:nvSpPr>
              <p:spPr>
                <a:xfrm>
                  <a:off x="10108456" y="5539189"/>
                  <a:ext cx="1756841" cy="18466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marL="171450" indent="-171450">
                    <a:buClr>
                      <a:srgbClr val="08275F"/>
                    </a:buClr>
                    <a:buFont typeface="Wingdings" panose="05000000000000000000" pitchFamily="2" charset="2"/>
                    <a:buChar char="§"/>
                  </a:pPr>
                  <a:r>
                    <a:rPr lang="ko-KR" altLang="en-US" sz="1200" b="1" i="1" dirty="0" smtClean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08275F"/>
                      </a:solidFill>
                      <a:latin typeface="Cambria Math" panose="02040503050406030204" pitchFamily="18" charset="0"/>
                    </a:rPr>
                    <a:t>𝒎 = (𝝀 / 𝟐𝝅𝜶) · 𝑺</a:t>
                  </a:r>
                  <a:endParaRPr dirty="0"/>
                </a:p>
              </p:txBody>
            </p:sp>
            <p:sp>
              <p:nvSpPr>
                <p:cNvPr id="241" name="TextBox 240"/>
                <p:cNvSpPr txBox="1"/>
                <p:nvPr/>
              </p:nvSpPr>
              <p:spPr>
                <a:xfrm>
                  <a:off x="10146635" y="5785788"/>
                  <a:ext cx="1629976" cy="14619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marL="171450" indent="-72000">
                    <a:buClr>
                      <a:schemeClr val="bg1">
                        <a:lumMod val="75000"/>
                      </a:schemeClr>
                    </a:buClr>
                    <a:buFont typeface="Arial" panose="020B0604020202020204" pitchFamily="34" charset="0"/>
                    <a:buChar char="•"/>
                  </a:pPr>
                  <a:r>
                    <a:rPr lang="en-US" sz="950" i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Dry mass</a:t>
                  </a:r>
                </a:p>
              </p:txBody>
            </p:sp>
            <p:sp>
              <p:nvSpPr>
                <p:cNvPr id="242" name="화살표: 오른쪽 189">
                  <a:extLst>
                    <a:ext uri="{FF2B5EF4-FFF2-40B4-BE49-F238E27FC236}">
                      <a16:creationId xmlns:a16="http://schemas.microsoft.com/office/drawing/2014/main" id="{19AAE64E-F8B8-7AA3-184B-10928C7D51F3}"/>
                    </a:ext>
                  </a:extLst>
                </p:cNvPr>
                <p:cNvSpPr/>
                <p:nvPr/>
              </p:nvSpPr>
              <p:spPr>
                <a:xfrm>
                  <a:off x="7245605" y="3582664"/>
                  <a:ext cx="211343" cy="269910"/>
                </a:xfrm>
                <a:prstGeom prst="rightArrow">
                  <a:avLst>
                    <a:gd name="adj1" fmla="val 45716"/>
                    <a:gd name="adj2" fmla="val 50000"/>
                  </a:avLst>
                </a:prstGeom>
                <a:solidFill>
                  <a:srgbClr val="2081BD"/>
                </a:solidFill>
                <a:ln w="6350">
                  <a:noFill/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046" name="자유형 1045"/>
                <p:cNvSpPr/>
                <p:nvPr/>
              </p:nvSpPr>
              <p:spPr>
                <a:xfrm>
                  <a:off x="1853660" y="375850"/>
                  <a:ext cx="6682902" cy="1741756"/>
                </a:xfrm>
                <a:custGeom>
                  <a:avLst/>
                  <a:gdLst>
                    <a:gd name="connsiteX0" fmla="*/ 0 w 6682902"/>
                    <a:gd name="connsiteY0" fmla="*/ 1517515 h 1517515"/>
                    <a:gd name="connsiteX1" fmla="*/ 204280 w 6682902"/>
                    <a:gd name="connsiteY1" fmla="*/ 1517515 h 1517515"/>
                    <a:gd name="connsiteX2" fmla="*/ 204280 w 6682902"/>
                    <a:gd name="connsiteY2" fmla="*/ 0 h 1517515"/>
                    <a:gd name="connsiteX3" fmla="*/ 6682902 w 6682902"/>
                    <a:gd name="connsiteY3" fmla="*/ 0 h 1517515"/>
                    <a:gd name="connsiteX4" fmla="*/ 6682902 w 6682902"/>
                    <a:gd name="connsiteY4" fmla="*/ 214008 h 1517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6682902" h="1517515">
                      <a:moveTo>
                        <a:pt x="0" y="1517515"/>
                      </a:moveTo>
                      <a:lnTo>
                        <a:pt x="204280" y="1517515"/>
                      </a:lnTo>
                      <a:lnTo>
                        <a:pt x="204280" y="0"/>
                      </a:lnTo>
                      <a:lnTo>
                        <a:pt x="6682902" y="0"/>
                      </a:lnTo>
                      <a:lnTo>
                        <a:pt x="6682902" y="214008"/>
                      </a:lnTo>
                    </a:path>
                  </a:pathLst>
                </a:custGeom>
                <a:noFill/>
                <a:ln w="19050">
                  <a:gradFill>
                    <a:gsLst>
                      <a:gs pos="0">
                        <a:srgbClr val="636363"/>
                      </a:gs>
                      <a:gs pos="100000">
                        <a:srgbClr val="004B94"/>
                      </a:gs>
                    </a:gsLst>
                    <a:lin ang="600000" scaled="0"/>
                  </a:gradFill>
                  <a:tailEnd type="arrow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54" name="화살표: 오른쪽 189">
                  <a:extLst>
                    <a:ext uri="{FF2B5EF4-FFF2-40B4-BE49-F238E27FC236}">
                      <a16:creationId xmlns:a16="http://schemas.microsoft.com/office/drawing/2014/main" id="{19AAE64E-F8B8-7AA3-184B-10928C7D51F3}"/>
                    </a:ext>
                  </a:extLst>
                </p:cNvPr>
                <p:cNvSpPr/>
                <p:nvPr/>
              </p:nvSpPr>
              <p:spPr>
                <a:xfrm>
                  <a:off x="1951587" y="4553209"/>
                  <a:ext cx="211343" cy="269910"/>
                </a:xfrm>
                <a:prstGeom prst="rightArrow">
                  <a:avLst>
                    <a:gd name="adj1" fmla="val 45716"/>
                    <a:gd name="adj2" fmla="val 50000"/>
                  </a:avLst>
                </a:prstGeom>
                <a:solidFill>
                  <a:srgbClr val="636363"/>
                </a:solidFill>
                <a:ln w="6350">
                  <a:noFill/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cxnSp>
              <p:nvCxnSpPr>
                <p:cNvPr id="1048" name="직선 연결선 1047"/>
                <p:cNvCxnSpPr/>
                <p:nvPr/>
              </p:nvCxnSpPr>
              <p:spPr>
                <a:xfrm>
                  <a:off x="3559046" y="6512727"/>
                  <a:ext cx="4987244" cy="0"/>
                </a:xfrm>
                <a:prstGeom prst="line">
                  <a:avLst/>
                </a:prstGeom>
                <a:noFill/>
                <a:ln w="19050">
                  <a:gradFill>
                    <a:gsLst>
                      <a:gs pos="0">
                        <a:srgbClr val="029BC2"/>
                      </a:gs>
                      <a:gs pos="100000">
                        <a:srgbClr val="004B94"/>
                      </a:gs>
                    </a:gsLst>
                    <a:lin ang="600000" scaled="0"/>
                  </a:gra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1050" name="직선 연결선 1049"/>
                <p:cNvCxnSpPr>
                  <a:stCxn id="13" idx="2"/>
                </p:cNvCxnSpPr>
                <p:nvPr/>
              </p:nvCxnSpPr>
              <p:spPr>
                <a:xfrm flipH="1">
                  <a:off x="8536562" y="6263406"/>
                  <a:ext cx="1188" cy="249321"/>
                </a:xfrm>
                <a:prstGeom prst="line">
                  <a:avLst/>
                </a:prstGeom>
                <a:solidFill>
                  <a:srgbClr val="FEF4F3"/>
                </a:solidFill>
                <a:ln w="15875">
                  <a:solidFill>
                    <a:srgbClr val="004B94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60" name="직선 연결선 259"/>
                <p:cNvCxnSpPr/>
                <p:nvPr/>
              </p:nvCxnSpPr>
              <p:spPr>
                <a:xfrm>
                  <a:off x="3557827" y="6111530"/>
                  <a:ext cx="0" cy="409333"/>
                </a:xfrm>
                <a:prstGeom prst="line">
                  <a:avLst/>
                </a:prstGeom>
                <a:solidFill>
                  <a:srgbClr val="FEF4F3"/>
                </a:solidFill>
                <a:ln w="15875">
                  <a:solidFill>
                    <a:srgbClr val="029BC2"/>
                  </a:solidFill>
                  <a:headEnd type="arrow"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</p:cxnSp>
            <p:sp xmlns:a14="http://schemas.microsoft.com/office/drawing/2010/main">
              <p:nvSpPr>
                <p:cNvPr id="104" name="TextBox 103"/>
                <p:cNvSpPr txBox="1"/>
                <p:nvPr/>
              </p:nvSpPr>
              <p:spPr>
                <a:xfrm>
                  <a:off x="2659571" y="276206"/>
                  <a:ext cx="5342339" cy="21639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15875">
                  <a:gradFill>
                    <a:gsLst>
                      <a:gs pos="0">
                        <a:srgbClr val="686363"/>
                      </a:gs>
                      <a:gs pos="100000">
                        <a:srgbClr val="004B94"/>
                      </a:gs>
                    </a:gsLst>
                    <a:lin ang="4200000" scaled="0"/>
                  </a:gradFill>
                </a:ln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lang="en-US" sz="1000" b="1" i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Background-referenced phase 𝝓 (radians) enters the loss directly</a:t>
                  </a:r>
                </a:p>
              </p:txBody>
            </p:sp>
            <p:sp>
              <p:nvSpPr>
                <p:cNvPr id="269" name="TextBox 268"/>
                <p:cNvSpPr txBox="1"/>
                <p:nvPr/>
              </p:nvSpPr>
              <p:spPr>
                <a:xfrm>
                  <a:off x="3800622" y="6404128"/>
                  <a:ext cx="4441238" cy="21639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/>
                </a:solidFill>
                <a:ln w="15875">
                  <a:gradFill>
                    <a:gsLst>
                      <a:gs pos="0">
                        <a:srgbClr val="0E9BC2"/>
                      </a:gs>
                      <a:gs pos="100000">
                        <a:srgbClr val="004B94"/>
                      </a:gs>
                    </a:gsLst>
                    <a:lin ang="4200000" scaled="0"/>
                  </a:gradFill>
                </a:ln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lang="en-US" sz="1000" b="1" i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Gradients update LoRA adapters, stem, normalisation and decoder</a:t>
                  </a:r>
                </a:p>
              </p:txBody>
            </p:sp>
            <p:pic>
              <p:nvPicPr>
                <p:cNvPr id="1058" name="그림 1057"/>
                <p:cNvPicPr>
                  <a:picLocks noChangeAspect="1"/>
                </p:cNvPicPr>
                <p:nvPr/>
              </p:nvPicPr>
              <p:blipFill>
                <a:blip r:embed="rId3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801721" y="2828603"/>
                  <a:ext cx="127803" cy="129032"/>
                </a:xfrm>
                <a:prstGeom prst="rect">
                  <a:avLst/>
                </a:prstGeom>
              </p:spPr>
            </p:pic>
            <p:sp>
              <p:nvSpPr>
                <p:cNvPr id="271" name="TextBox 270"/>
                <p:cNvSpPr txBox="1"/>
                <p:nvPr/>
              </p:nvSpPr>
              <p:spPr>
                <a:xfrm>
                  <a:off x="2497341" y="5851127"/>
                  <a:ext cx="2166050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lang="en-US" sz="900" b="1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3975A6"/>
                      </a:solidFill>
                      <a:latin typeface="Arial"/>
                    </a:rPr>
                    <a:t>Trainable (EdgeSAM, r = 32: 21.2%)</a:t>
                  </a:r>
                </a:p>
              </p:txBody>
            </p:sp>
            <p:pic>
              <p:nvPicPr>
                <p:cNvPr id="272" name="그림 271"/>
                <p:cNvPicPr>
                  <a:picLocks noChangeAspect="1"/>
                </p:cNvPicPr>
                <p:nvPr/>
              </p:nvPicPr>
              <p:blipFill>
                <a:blip r:embed="rId3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39314" y="5857505"/>
                  <a:ext cx="127803" cy="129032"/>
                </a:xfrm>
                <a:prstGeom prst="rect">
                  <a:avLst/>
                </a:prstGeom>
              </p:spPr>
            </p:pic>
            <p:sp>
              <p:nvSpPr>
                <p:cNvPr id="274" name="Rectangle 52"/>
                <p:cNvSpPr/>
                <p:nvPr/>
              </p:nvSpPr>
              <p:spPr>
                <a:xfrm rot="5400000">
                  <a:off x="5446322" y="5664886"/>
                  <a:ext cx="58400" cy="49504"/>
                </a:xfrm>
                <a:prstGeom prst="roundRect">
                  <a:avLst/>
                </a:prstGeom>
                <a:solidFill>
                  <a:srgbClr val="404040"/>
                </a:solidFill>
                <a:ln w="762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 sz="20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p:sp>
              <p:nvSpPr>
                <p:cNvPr id="276" name="Rectangle 54"/>
                <p:cNvSpPr/>
                <p:nvPr/>
              </p:nvSpPr>
              <p:spPr>
                <a:xfrm rot="5400000">
                  <a:off x="5446322" y="5789695"/>
                  <a:ext cx="58400" cy="49504"/>
                </a:xfrm>
                <a:prstGeom prst="roundRect">
                  <a:avLst/>
                </a:prstGeom>
                <a:solidFill>
                  <a:srgbClr val="0072B2"/>
                </a:solidFill>
                <a:ln w="762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 sz="20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p:sp>
              <p:nvSpPr>
                <p:cNvPr id="278" name="Rectangle 56"/>
                <p:cNvSpPr/>
                <p:nvPr/>
              </p:nvSpPr>
              <p:spPr>
                <a:xfrm rot="5400000">
                  <a:off x="5446322" y="5914504"/>
                  <a:ext cx="58400" cy="49504"/>
                </a:xfrm>
                <a:prstGeom prst="roundRect">
                  <a:avLst/>
                </a:prstGeom>
                <a:solidFill>
                  <a:srgbClr val="009E73"/>
                </a:solidFill>
                <a:ln w="762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 sz="20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p:sp>
              <p:nvSpPr>
                <p:cNvPr id="280" name="Rectangle 58"/>
                <p:cNvSpPr/>
                <p:nvPr/>
              </p:nvSpPr>
              <p:spPr>
                <a:xfrm rot="5400000">
                  <a:off x="6240072" y="5669395"/>
                  <a:ext cx="58400" cy="49504"/>
                </a:xfrm>
                <a:prstGeom prst="roundRect">
                  <a:avLst/>
                </a:prstGeom>
                <a:solidFill>
                  <a:srgbClr val="D55E00"/>
                </a:solidFill>
                <a:ln w="762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 sz="20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p:sp>
              <p:nvSpPr>
                <p:cNvPr id="282" name="Rectangle 60"/>
                <p:cNvSpPr/>
                <p:nvPr/>
              </p:nvSpPr>
              <p:spPr>
                <a:xfrm rot="5400000">
                  <a:off x="6240072" y="5794204"/>
                  <a:ext cx="58400" cy="49504"/>
                </a:xfrm>
                <a:prstGeom prst="roundRect">
                  <a:avLst/>
                </a:prstGeom>
                <a:solidFill>
                  <a:srgbClr val="CC79A7"/>
                </a:solidFill>
                <a:ln w="762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/>
                <a:lstStyle/>
                <a:p>
                  <a:pPr algn="ctr"/>
                  <a:endParaRPr sz="200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</a:endParaRPr>
                </a:p>
              </p:txBody>
            </p:sp>
            <p:sp>
              <p:nvSpPr>
                <p:cNvPr id="284" name="TextBox 283"/>
                <p:cNvSpPr txBox="1"/>
                <p:nvPr/>
              </p:nvSpPr>
              <p:spPr>
                <a:xfrm>
                  <a:off x="6346570" y="5620343"/>
                  <a:ext cx="1040893" cy="26430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en-US" sz="750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Echinocyte</a:t>
                  </a:r>
                  <a:br>
                    <a:rPr lang="en-US" sz="75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</a:br>
                  <a:r>
                    <a:rPr lang="en-US" sz="750" dirty="0" err="1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Arial"/>
                    </a:rPr>
                    <a:t>Stomatocyte</a:t>
                  </a:r>
                  <a:endParaRPr lang="en-US" sz="750" dirty="0">
                    <a:ln>
                      <a:solidFill>
                        <a:schemeClr val="accent1"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rial"/>
                  </a:endParaRPr>
                </a:p>
              </p:txBody>
            </p:sp>
            <p:cxnSp>
              <p:nvCxnSpPr>
                <p:cNvPr id="1060" name="직선 연결선 1059"/>
                <p:cNvCxnSpPr/>
                <p:nvPr/>
              </p:nvCxnSpPr>
              <p:spPr>
                <a:xfrm>
                  <a:off x="2515111" y="5767500"/>
                  <a:ext cx="1967249" cy="0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7" name="TextBox 36"/>
                <p:cNvSpPr txBox="1"/>
                <p:nvPr/>
              </p:nvSpPr>
              <p:spPr>
                <a:xfrm>
                  <a:off x="3099004" y="5074045"/>
                  <a:ext cx="353641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sz="10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888888"/>
                      </a:solidFill>
                      <a:latin typeface="Arial"/>
                    </a:rPr>
                    <a:t>d × r</a:t>
                  </a:r>
                </a:p>
              </p:txBody>
            </p:sp>
            <p:sp>
              <p:nvSpPr>
                <p:cNvPr id="40" name="TextBox 39"/>
                <p:cNvSpPr txBox="1"/>
                <p:nvPr/>
              </p:nvSpPr>
              <p:spPr>
                <a:xfrm>
                  <a:off x="3446400" y="4786064"/>
                  <a:ext cx="371323" cy="15388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algn="ctr"/>
                  <a:r>
                    <a:rPr sz="1000" dirty="0">
                      <a:ln>
                        <a:solidFill>
                          <a:schemeClr val="accent1">
                            <a:alpha val="0"/>
                          </a:schemeClr>
                        </a:solidFill>
                      </a:ln>
                      <a:solidFill>
                        <a:srgbClr val="888888"/>
                      </a:solidFill>
                      <a:latin typeface="Arial"/>
                    </a:rPr>
                    <a:t>r × k</a:t>
                  </a:r>
                </a:p>
              </p:txBody>
            </p:sp>
          </p:grpSp>
        </p:grp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8AE8004E-CE08-AA4E-94D5-878FE633DAE5}"/>
              </a:ext>
            </a:extLst>
          </p:cNvPr>
          <p:cNvSpPr txBox="1"/>
          <p:nvPr/>
        </p:nvSpPr>
        <p:spPr>
          <a:xfrm>
            <a:off x="0" y="0"/>
            <a:ext cx="885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Figure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1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243009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58B90-601C-1C19-388D-F23AF53C1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3_mask.png" descr="p3_mask.png">
            <a:extLst>
              <a:ext uri="{FF2B5EF4-FFF2-40B4-BE49-F238E27FC236}">
                <a16:creationId xmlns:a16="http://schemas.microsoft.com/office/drawing/2014/main" id="{3594289F-97B5-F2F2-6116-5B192D6BDF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4001" y="3624945"/>
            <a:ext cx="1583860" cy="1583860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813CCB30-D410-9443-3A55-CDDB5DB4D5D2}"/>
              </a:ext>
            </a:extLst>
          </p:cNvPr>
          <p:cNvSpPr txBox="1"/>
          <p:nvPr/>
        </p:nvSpPr>
        <p:spPr>
          <a:xfrm>
            <a:off x="0" y="0"/>
            <a:ext cx="15896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Figure</a:t>
            </a:r>
            <a:r>
              <a:rPr lang="ko-KR" altLang="en-US" sz="1400" b="1" dirty="0"/>
              <a:t> </a:t>
            </a:r>
            <a:r>
              <a:rPr lang="en-US" altLang="ko-KR" sz="1400" b="1"/>
              <a:t>1 Objects</a:t>
            </a:r>
            <a:endParaRPr lang="ko-KR" altLang="en-US" sz="1400" b="1" dirty="0"/>
          </a:p>
        </p:txBody>
      </p:sp>
      <p:pic>
        <p:nvPicPr>
          <p:cNvPr id="51" name="p1_phase.png" descr="p1_phase.png">
            <a:extLst>
              <a:ext uri="{FF2B5EF4-FFF2-40B4-BE49-F238E27FC236}">
                <a16:creationId xmlns:a16="http://schemas.microsoft.com/office/drawing/2014/main" id="{D25C8E7F-326E-A51F-AB01-D006647055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154" y="1477688"/>
            <a:ext cx="1512417" cy="1228953"/>
          </a:xfrm>
          <a:prstGeom prst="rect">
            <a:avLst/>
          </a:prstGeom>
        </p:spPr>
      </p:pic>
      <p:pic>
        <p:nvPicPr>
          <p:cNvPr id="69" name="p4_volume.png" descr="p4_volume.png">
            <a:extLst>
              <a:ext uri="{FF2B5EF4-FFF2-40B4-BE49-F238E27FC236}">
                <a16:creationId xmlns:a16="http://schemas.microsoft.com/office/drawing/2014/main" id="{520A6665-B799-F6A8-AEAC-9A58969EF8A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24005" y="1727396"/>
            <a:ext cx="1766620" cy="1483156"/>
          </a:xfrm>
          <a:prstGeom prst="rect">
            <a:avLst/>
          </a:prstGeom>
        </p:spPr>
      </p:pic>
      <p:pic>
        <p:nvPicPr>
          <p:cNvPr id="71" name="p2_norm.png" descr="p2_norm.png">
            <a:extLst>
              <a:ext uri="{FF2B5EF4-FFF2-40B4-BE49-F238E27FC236}">
                <a16:creationId xmlns:a16="http://schemas.microsoft.com/office/drawing/2014/main" id="{01530DDB-B2CF-5D94-61C5-7B40A5E047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203" y="4805461"/>
            <a:ext cx="1498701" cy="1215237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274320" y="6309360"/>
            <a:ext cx="116128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Arial"/>
              </a:rPr>
              <a:t>Objects written by artifacts/code/make_figure_objects.py to artifacts/figures/objects/Fig1/. The phase, z-score and volume objects include their colour bar and its values (limits also in objects.json).</a:t>
            </a:r>
          </a:p>
        </p:txBody>
      </p:sp>
    </p:spTree>
    <p:extLst>
      <p:ext uri="{BB962C8B-B14F-4D97-AF65-F5344CB8AC3E}">
        <p14:creationId xmlns:p14="http://schemas.microsoft.com/office/powerpoint/2010/main" val="568830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062F793-E7C9-3EE8-903B-FEB9891A4BFD}"/>
              </a:ext>
            </a:extLst>
          </p:cNvPr>
          <p:cNvSpPr txBox="1"/>
          <p:nvPr/>
        </p:nvSpPr>
        <p:spPr>
          <a:xfrm>
            <a:off x="0" y="0"/>
            <a:ext cx="10606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Figure S-4</a:t>
            </a:r>
            <a:endParaRPr lang="ko-KR" altLang="en-US" sz="1400" b="1" dirty="0"/>
          </a:p>
        </p:txBody>
      </p:sp>
      <p:grpSp>
        <p:nvGrpSpPr>
          <p:cNvPr id="17" name="Figure"/>
          <p:cNvGrpSpPr/>
          <p:nvPr/>
        </p:nvGrpSpPr>
        <p:grpSpPr>
          <a:xfrm>
            <a:off x="1271214" y="1742927"/>
            <a:ext cx="9649571" cy="3372145"/>
            <a:chOff x="1271214" y="1742927"/>
            <a:chExt cx="9649571" cy="3372145"/>
          </a:xfrm>
        </p:grpSpPr>
        <p:sp>
          <p:nvSpPr>
            <p:cNvPr id="16" name="Figure backing"/>
            <p:cNvSpPr/>
            <p:nvPr/>
          </p:nvSpPr>
          <p:spPr>
            <a:xfrm>
              <a:off x="1271214" y="1742927"/>
              <a:ext cx="9649571" cy="337214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3" name="p1_phase.png" descr="fig07_p1_raw_phas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16934" y="2002959"/>
              <a:ext cx="3066393" cy="3066393"/>
            </a:xfrm>
            <a:prstGeom prst="rect">
              <a:avLst/>
            </a:prstGeom>
          </p:spPr>
        </p:pic>
        <p:sp>
          <p:nvSpPr>
            <p:cNvPr id="4" name="Rectangle 3"/>
            <p:cNvSpPr/>
            <p:nvPr/>
          </p:nvSpPr>
          <p:spPr>
            <a:xfrm>
              <a:off x="1454921" y="4876501"/>
              <a:ext cx="1662470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409201" y="4644853"/>
              <a:ext cx="1753910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16934" y="1788647"/>
              <a:ext cx="3066393" cy="19050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250" b="1">
                  <a:solidFill>
                    <a:srgbClr val="000000"/>
                  </a:solidFill>
                  <a:latin typeface="Arial"/>
                </a:rPr>
                <a:t>Phase (rad)</a:t>
              </a:r>
            </a:p>
          </p:txBody>
        </p:sp>
        <p:pic>
          <p:nvPicPr>
            <p:cNvPr id="7" name="p2_gradient.png" descr="fig07_p2_phase_gradient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62803" y="2002959"/>
              <a:ext cx="3066393" cy="3066393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/>
          </p:nvSpPr>
          <p:spPr>
            <a:xfrm>
              <a:off x="4700791" y="4876501"/>
              <a:ext cx="1662470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655071" y="4644853"/>
              <a:ext cx="1753910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562803" y="1788647"/>
              <a:ext cx="3066393" cy="19050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250" b="1">
                  <a:solidFill>
                    <a:srgbClr val="000000"/>
                  </a:solidFill>
                  <a:latin typeface="Arial"/>
                </a:rPr>
                <a:t>Phase-gradient magnitude</a:t>
              </a:r>
            </a:p>
          </p:txBody>
        </p:sp>
        <p:pic>
          <p:nvPicPr>
            <p:cNvPr id="11" name="p3_contours.png" descr="fig07_p3_edgesam_contour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808672" y="2002959"/>
              <a:ext cx="3066393" cy="3066393"/>
            </a:xfrm>
            <a:prstGeom prst="rect">
              <a:avLst/>
            </a:prstGeom>
          </p:spPr>
        </p:pic>
        <p:sp>
          <p:nvSpPr>
            <p:cNvPr id="12" name="Rectangle 11"/>
            <p:cNvSpPr/>
            <p:nvPr/>
          </p:nvSpPr>
          <p:spPr>
            <a:xfrm>
              <a:off x="7946660" y="4876501"/>
              <a:ext cx="1662470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900940" y="4644853"/>
              <a:ext cx="1753910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808672" y="1788647"/>
              <a:ext cx="3066393" cy="19050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250" b="1" dirty="0">
                  <a:solidFill>
                    <a:srgbClr val="000000"/>
                  </a:solidFill>
                  <a:latin typeface="Arial"/>
                </a:rPr>
                <a:t>Predicted contours</a:t>
              </a:r>
            </a:p>
          </p:txBody>
        </p:sp>
        <p:sp>
          <p:nvSpPr>
            <p:cNvPr id="18" name="Legend box"/>
            <p:cNvSpPr/>
            <p:nvPr/>
          </p:nvSpPr>
          <p:spPr>
            <a:xfrm>
              <a:off x="9393737" y="2066966"/>
              <a:ext cx="1417320" cy="42062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Legend EdgeSAM (r=32)"/>
            <p:cNvSpPr/>
            <p:nvPr/>
          </p:nvSpPr>
          <p:spPr>
            <a:xfrm>
              <a:off x="9466889" y="2149262"/>
              <a:ext cx="201168" cy="100584"/>
            </a:xfrm>
            <a:prstGeom prst="rect">
              <a:avLst/>
            </a:prstGeom>
            <a:solidFill>
              <a:srgbClr val="2A78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722920" y="2121830"/>
              <a:ext cx="1051560" cy="15544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r>
                <a:rPr sz="1000">
                  <a:solidFill>
                    <a:srgbClr val="000000"/>
                  </a:solidFill>
                  <a:latin typeface="Arial"/>
                </a:rPr>
                <a:t>EdgeSAM (r=32)</a:t>
              </a:r>
            </a:p>
          </p:txBody>
        </p:sp>
        <p:sp>
          <p:nvSpPr>
            <p:cNvPr id="21" name="Legend MobileSAM (r=8)"/>
            <p:cNvSpPr/>
            <p:nvPr/>
          </p:nvSpPr>
          <p:spPr>
            <a:xfrm>
              <a:off x="9466889" y="2313854"/>
              <a:ext cx="201168" cy="100584"/>
            </a:xfrm>
            <a:prstGeom prst="rect">
              <a:avLst/>
            </a:prstGeom>
            <a:solidFill>
              <a:srgbClr val="EB683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722920" y="2286423"/>
              <a:ext cx="1051560" cy="155448"/>
            </a:xfrm>
            <a:prstGeom prst="rect">
              <a:avLst/>
            </a:prstGeom>
            <a:noFill/>
          </p:spPr>
          <p:txBody>
            <a:bodyPr wrap="none" lIns="0" rIns="0" tIns="0" bIns="0" anchor="ctr">
              <a:spAutoFit/>
            </a:bodyPr>
            <a:lstStyle/>
            <a:p>
              <a:r>
                <a:rPr sz="1000">
                  <a:solidFill>
                    <a:srgbClr val="000000"/>
                  </a:solidFill>
                  <a:latin typeface="Arial"/>
                </a:rPr>
                <a:t>MobileSAM (r=8)</a:t>
              </a: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693920" y="6126480"/>
            <a:ext cx="7315200" cy="54864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Arial"/>
              </a:rPr>
              <a:t>Panel image 1024 × 1024 px, upsampled 4× from the 256 × 256 px window (objects.json, FigS4).</a:t>
            </a:r>
          </a:p>
          <a:p>
            <a:pPr algn="r"/>
            <a:r>
              <a:rPr sz="900" b="0">
                <a:solidFill>
                  <a:srgbClr val="808080"/>
                </a:solidFill>
                <a:latin typeface="Arial"/>
              </a:rPr>
              <a:t>Pixel pitch 0.1441 μm/px, so one panel spans 256 × 0.1441 = 36.89 μm.</a:t>
            </a:r>
          </a:p>
          <a:p>
            <a:pPr algn="r"/>
            <a:r>
              <a:rPr sz="900" b="0">
                <a:solidFill>
                  <a:srgbClr val="808080"/>
                </a:solidFill>
                <a:latin typeface="Arial"/>
              </a:rPr>
              <a:t>Panel placed on this slide at 8.5178 × 8.5178 cm.</a:t>
            </a:r>
          </a:p>
          <a:p>
            <a:pPr algn="r"/>
            <a:r>
              <a:rPr sz="900" b="0">
                <a:solidFill>
                  <a:srgbClr val="808080"/>
                </a:solidFill>
                <a:latin typeface="Arial"/>
              </a:rPr>
              <a:t>Scale bar 20 μm = 20 / 36.89 = 54.2 % of panel width = 4.6180 cm.</a:t>
            </a:r>
          </a:p>
        </p:txBody>
      </p:sp>
    </p:spTree>
    <p:extLst>
      <p:ext uri="{BB962C8B-B14F-4D97-AF65-F5344CB8AC3E}">
        <p14:creationId xmlns:p14="http://schemas.microsoft.com/office/powerpoint/2010/main" val="457579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D3558-F23D-8220-BAAE-02381268A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CD38AB-E9D9-4B7D-5742-1F979839E6A2}"/>
              </a:ext>
            </a:extLst>
          </p:cNvPr>
          <p:cNvSpPr txBox="1"/>
          <p:nvPr/>
        </p:nvSpPr>
        <p:spPr>
          <a:xfrm>
            <a:off x="0" y="0"/>
            <a:ext cx="885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Figure</a:t>
            </a:r>
            <a:r>
              <a:rPr lang="ko-KR" altLang="en-US" sz="1400" b="1" dirty="0"/>
              <a:t> </a:t>
            </a:r>
            <a:r>
              <a:rPr lang="en-US" altLang="ko-KR" sz="1400" b="1" dirty="0"/>
              <a:t>6</a:t>
            </a:r>
            <a:endParaRPr lang="ko-KR" altLang="en-US" sz="1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234440" y="484632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33472" y="484632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Annotation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32504" y="484632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MobileNet-UNet (r=8)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31536" y="484632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MobileSAM (r=8)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30568" y="484632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EdgeSAM (r=8)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484632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EdgeSAM (r=32)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777240"/>
            <a:ext cx="82296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Discocyte (1)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day 15</a:t>
            </a:r>
          </a:p>
        </p:txBody>
      </p:sp>
      <p:pic>
        <p:nvPicPr>
          <p:cNvPr id="10" name="r1_discocyte_c1_phase.png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4440" y="777240"/>
            <a:ext cx="1325880" cy="13258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307592" y="1975103"/>
            <a:ext cx="718836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9304" y="177393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20 µm</a:t>
            </a:r>
          </a:p>
        </p:txBody>
      </p:sp>
      <p:pic>
        <p:nvPicPr>
          <p:cNvPr id="13" name="r1_discocyte_c2_annotation.png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33472" y="777240"/>
            <a:ext cx="1325880" cy="132588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706624" y="1975103"/>
            <a:ext cx="718836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88336" y="177393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20 µm</a:t>
            </a:r>
          </a:p>
        </p:txBody>
      </p:sp>
      <p:pic>
        <p:nvPicPr>
          <p:cNvPr id="16" name="r1_discocyte_c3_mobilenet_unet_r8.png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32504" y="777240"/>
            <a:ext cx="1325880" cy="132588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105656" y="1975103"/>
            <a:ext cx="718836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87368" y="177393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20 µm</a:t>
            </a:r>
          </a:p>
        </p:txBody>
      </p:sp>
      <p:pic>
        <p:nvPicPr>
          <p:cNvPr id="19" name="r1_discocyte_c4_mobilesam_r8.png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31536" y="777240"/>
            <a:ext cx="1325880" cy="132588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504688" y="1975103"/>
            <a:ext cx="718836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399" y="177393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20 µm</a:t>
            </a:r>
          </a:p>
        </p:txBody>
      </p:sp>
      <p:pic>
        <p:nvPicPr>
          <p:cNvPr id="22" name="r1_discocyte_c5_edgesam_r8.png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30568" y="777240"/>
            <a:ext cx="1325880" cy="132588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903720" y="1975103"/>
            <a:ext cx="718836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85432" y="177393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20 µm</a:t>
            </a:r>
          </a:p>
        </p:txBody>
      </p:sp>
      <p:pic>
        <p:nvPicPr>
          <p:cNvPr id="25" name="r1_discocyte_c6_edgesam_r32.png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29600" y="777240"/>
            <a:ext cx="1325880" cy="132588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8302752" y="1975103"/>
            <a:ext cx="718836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4464" y="177393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20 µm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2176272"/>
            <a:ext cx="82296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Spherocyte (2)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day 47</a:t>
            </a:r>
          </a:p>
        </p:txBody>
      </p:sp>
      <p:pic>
        <p:nvPicPr>
          <p:cNvPr id="29" name="r2_spherocyte_c1_phase.png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34440" y="2176272"/>
            <a:ext cx="1325880" cy="1325880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1307592" y="3374136"/>
            <a:ext cx="718836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9304" y="317296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20 µm</a:t>
            </a:r>
          </a:p>
        </p:txBody>
      </p:sp>
      <p:pic>
        <p:nvPicPr>
          <p:cNvPr id="32" name="r2_spherocyte_c2_annotation.png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33472" y="2176272"/>
            <a:ext cx="1325880" cy="132588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2706624" y="3374136"/>
            <a:ext cx="718836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88336" y="317296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20 µm</a:t>
            </a:r>
          </a:p>
        </p:txBody>
      </p:sp>
      <p:pic>
        <p:nvPicPr>
          <p:cNvPr id="35" name="r2_spherocyte_c3_mobilenet_unet_r8.png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32504" y="2176272"/>
            <a:ext cx="1325880" cy="132588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4105656" y="3374136"/>
            <a:ext cx="718836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87368" y="317296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20 µm</a:t>
            </a:r>
          </a:p>
        </p:txBody>
      </p:sp>
      <p:pic>
        <p:nvPicPr>
          <p:cNvPr id="38" name="r2_spherocyte_c4_mobilesam_r8.png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431536" y="2176272"/>
            <a:ext cx="1325880" cy="1325880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5504688" y="3374136"/>
            <a:ext cx="718836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399" y="317296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20 µm</a:t>
            </a:r>
          </a:p>
        </p:txBody>
      </p:sp>
      <p:pic>
        <p:nvPicPr>
          <p:cNvPr id="41" name="r2_spherocyte_c5_edgesam_r8.png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30568" y="2176272"/>
            <a:ext cx="1325880" cy="1325880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6903720" y="3374136"/>
            <a:ext cx="718836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85432" y="317296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20 µm</a:t>
            </a:r>
          </a:p>
        </p:txBody>
      </p:sp>
      <p:pic>
        <p:nvPicPr>
          <p:cNvPr id="44" name="r2_spherocyte_c6_edgesam_r32.png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29600" y="2176272"/>
            <a:ext cx="1325880" cy="1325880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8302752" y="3374136"/>
            <a:ext cx="718836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84464" y="317296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20 µm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" y="3575304"/>
            <a:ext cx="82296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Echinocyte (3)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day 30</a:t>
            </a:r>
          </a:p>
        </p:txBody>
      </p:sp>
      <p:pic>
        <p:nvPicPr>
          <p:cNvPr id="48" name="r3_echinocyte_c1_phase.png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34440" y="3575304"/>
            <a:ext cx="1325880" cy="1325880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1307592" y="4773168"/>
            <a:ext cx="718836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289304" y="45720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20 µm</a:t>
            </a:r>
          </a:p>
        </p:txBody>
      </p:sp>
      <p:pic>
        <p:nvPicPr>
          <p:cNvPr id="51" name="r3_echinocyte_c2_annotation.png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633472" y="3575304"/>
            <a:ext cx="1325880" cy="1325880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2706624" y="4773168"/>
            <a:ext cx="718836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88336" y="45720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20 µm</a:t>
            </a:r>
          </a:p>
        </p:txBody>
      </p:sp>
      <p:pic>
        <p:nvPicPr>
          <p:cNvPr id="54" name="r3_echinocyte_c3_mobilenet_unet_r8.png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032504" y="3575304"/>
            <a:ext cx="1325880" cy="1325880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4105656" y="4773168"/>
            <a:ext cx="718836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87368" y="45720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20 µm</a:t>
            </a:r>
          </a:p>
        </p:txBody>
      </p:sp>
      <p:pic>
        <p:nvPicPr>
          <p:cNvPr id="57" name="r3_echinocyte_c4_mobilesam_r8.png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431536" y="3575304"/>
            <a:ext cx="1325880" cy="1325880"/>
          </a:xfrm>
          <a:prstGeom prst="rect">
            <a:avLst/>
          </a:prstGeom>
        </p:spPr>
      </p:pic>
      <p:sp>
        <p:nvSpPr>
          <p:cNvPr id="58" name="Rectangle 57"/>
          <p:cNvSpPr/>
          <p:nvPr/>
        </p:nvSpPr>
        <p:spPr>
          <a:xfrm>
            <a:off x="5504688" y="4773168"/>
            <a:ext cx="718836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399" y="45720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20 µm</a:t>
            </a:r>
          </a:p>
        </p:txBody>
      </p:sp>
      <p:pic>
        <p:nvPicPr>
          <p:cNvPr id="60" name="r3_echinocyte_c5_edgesam_r8.png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830568" y="3575304"/>
            <a:ext cx="1325880" cy="132588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903720" y="4773168"/>
            <a:ext cx="718836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85432" y="45720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20 µm</a:t>
            </a:r>
          </a:p>
        </p:txBody>
      </p:sp>
      <p:pic>
        <p:nvPicPr>
          <p:cNvPr id="63" name="r3_echinocyte_c6_edgesam_r32.png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229600" y="3575304"/>
            <a:ext cx="1325880" cy="1325880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8302752" y="4773168"/>
            <a:ext cx="718836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84464" y="4572000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20 µm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20040" y="4974336"/>
            <a:ext cx="822960" cy="1325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Stomatocyte (4)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day 19</a:t>
            </a:r>
          </a:p>
        </p:txBody>
      </p:sp>
      <p:pic>
        <p:nvPicPr>
          <p:cNvPr id="67" name="r4_stomatocyte_c1_phase.png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234440" y="4974336"/>
            <a:ext cx="1325880" cy="1325880"/>
          </a:xfrm>
          <a:prstGeom prst="rect">
            <a:avLst/>
          </a:prstGeom>
        </p:spPr>
      </p:pic>
      <p:sp>
        <p:nvSpPr>
          <p:cNvPr id="68" name="Rectangle 67"/>
          <p:cNvSpPr/>
          <p:nvPr/>
        </p:nvSpPr>
        <p:spPr>
          <a:xfrm>
            <a:off x="1307592" y="6172200"/>
            <a:ext cx="718836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289304" y="5971031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20 µm</a:t>
            </a:r>
          </a:p>
        </p:txBody>
      </p:sp>
      <p:pic>
        <p:nvPicPr>
          <p:cNvPr id="70" name="r4_stomatocyte_c2_annotation.png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633472" y="4974336"/>
            <a:ext cx="1325880" cy="1325880"/>
          </a:xfrm>
          <a:prstGeom prst="rect">
            <a:avLst/>
          </a:prstGeom>
        </p:spPr>
      </p:pic>
      <p:sp>
        <p:nvSpPr>
          <p:cNvPr id="71" name="Rectangle 70"/>
          <p:cNvSpPr/>
          <p:nvPr/>
        </p:nvSpPr>
        <p:spPr>
          <a:xfrm>
            <a:off x="2706624" y="6172200"/>
            <a:ext cx="718836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88336" y="5971031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20 µm</a:t>
            </a:r>
          </a:p>
        </p:txBody>
      </p:sp>
      <p:pic>
        <p:nvPicPr>
          <p:cNvPr id="73" name="r4_stomatocyte_c3_mobilenet_unet_r8.png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032504" y="4974336"/>
            <a:ext cx="1325880" cy="1325880"/>
          </a:xfrm>
          <a:prstGeom prst="rect">
            <a:avLst/>
          </a:prstGeom>
        </p:spPr>
      </p:pic>
      <p:sp>
        <p:nvSpPr>
          <p:cNvPr id="74" name="Rectangle 73"/>
          <p:cNvSpPr/>
          <p:nvPr/>
        </p:nvSpPr>
        <p:spPr>
          <a:xfrm>
            <a:off x="4105656" y="6172200"/>
            <a:ext cx="718836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087368" y="5971031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20 µm</a:t>
            </a:r>
          </a:p>
        </p:txBody>
      </p:sp>
      <p:pic>
        <p:nvPicPr>
          <p:cNvPr id="76" name="r4_stomatocyte_c4_mobilesam_r8.png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31536" y="4974336"/>
            <a:ext cx="1325880" cy="1325880"/>
          </a:xfrm>
          <a:prstGeom prst="rect">
            <a:avLst/>
          </a:prstGeom>
        </p:spPr>
      </p:pic>
      <p:sp>
        <p:nvSpPr>
          <p:cNvPr id="77" name="Rectangle 76"/>
          <p:cNvSpPr/>
          <p:nvPr/>
        </p:nvSpPr>
        <p:spPr>
          <a:xfrm>
            <a:off x="5504688" y="6172200"/>
            <a:ext cx="718836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86399" y="5971031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20 µm</a:t>
            </a:r>
          </a:p>
        </p:txBody>
      </p:sp>
      <p:pic>
        <p:nvPicPr>
          <p:cNvPr id="79" name="r4_stomatocyte_c5_edgesam_r8.png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830568" y="4974336"/>
            <a:ext cx="1325880" cy="1325880"/>
          </a:xfrm>
          <a:prstGeom prst="rect">
            <a:avLst/>
          </a:prstGeom>
        </p:spPr>
      </p:pic>
      <p:sp>
        <p:nvSpPr>
          <p:cNvPr id="80" name="Rectangle 79"/>
          <p:cNvSpPr/>
          <p:nvPr/>
        </p:nvSpPr>
        <p:spPr>
          <a:xfrm>
            <a:off x="6903720" y="6172200"/>
            <a:ext cx="718836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885432" y="5971031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20 µm</a:t>
            </a:r>
          </a:p>
        </p:txBody>
      </p:sp>
      <p:pic>
        <p:nvPicPr>
          <p:cNvPr id="82" name="r4_stomatocyte_c6_edgesam_r32.png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8229600" y="4974336"/>
            <a:ext cx="1325880" cy="1325880"/>
          </a:xfrm>
          <a:prstGeom prst="rect">
            <a:avLst/>
          </a:prstGeom>
        </p:spPr>
      </p:pic>
      <p:sp>
        <p:nvSpPr>
          <p:cNvPr id="83" name="Rectangle 82"/>
          <p:cNvSpPr/>
          <p:nvPr/>
        </p:nvSpPr>
        <p:spPr>
          <a:xfrm>
            <a:off x="8302752" y="6172200"/>
            <a:ext cx="718836" cy="411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284464" y="5971031"/>
            <a:ext cx="6400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20 µm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234440" y="6492240"/>
            <a:ext cx="256032" cy="146304"/>
          </a:xfrm>
          <a:prstGeom prst="rect">
            <a:avLst/>
          </a:prstGeom>
          <a:solidFill>
            <a:srgbClr val="0072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545336" y="644652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Discocyte (1)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688336" y="6492240"/>
            <a:ext cx="256032" cy="146304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999232" y="644652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Spherocyte (2)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142232" y="6492240"/>
            <a:ext cx="256032" cy="146304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453128" y="644652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Echinocyte (3)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596128" y="6492240"/>
            <a:ext cx="256032" cy="146304"/>
          </a:xfrm>
          <a:prstGeom prst="rect">
            <a:avLst/>
          </a:prstGeom>
          <a:solidFill>
            <a:srgbClr val="CC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907024" y="644652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Stomatocyte (4)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050024" y="6492240"/>
            <a:ext cx="256032" cy="146304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360920" y="6446520"/>
            <a:ext cx="1600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outside annotated field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20072" y="777240"/>
            <a:ext cx="23774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08080"/>
                </a:solidFill>
                <a:latin typeface="Arial"/>
              </a:rPr>
              <a:t>Each panel: 256 × 256 px window (36.89 µm), object 1024 × 1024 px (4× upsampled).</a:t>
            </a:r>
          </a:p>
          <a:p>
            <a:pPr algn="l"/>
            <a:r>
              <a:rPr sz="900" b="0">
                <a:solidFill>
                  <a:srgbClr val="808080"/>
                </a:solidFill>
                <a:latin typeface="Arial"/>
              </a:rPr>
              <a:t>Scale bar 20 µm = 54.2% of the panel width. Row days follow objects.json (Fig6);</a:t>
            </a:r>
          </a:p>
          <a:p>
            <a:pPr algn="l"/>
            <a:r>
              <a:rPr sz="900" b="0">
                <a:solidFill>
                  <a:srgbClr val="808080"/>
                </a:solidFill>
                <a:latin typeface="Arial"/>
              </a:rPr>
              <a:t>all predictions from training seed 42.</a:t>
            </a:r>
          </a:p>
        </p:txBody>
      </p:sp>
    </p:spTree>
    <p:extLst>
      <p:ext uri="{BB962C8B-B14F-4D97-AF65-F5344CB8AC3E}">
        <p14:creationId xmlns:p14="http://schemas.microsoft.com/office/powerpoint/2010/main" val="1003296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325BF-4D3F-2052-9922-A11B14F6B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EA08B9-ECEC-0696-53ED-31648B8A63D7}"/>
              </a:ext>
            </a:extLst>
          </p:cNvPr>
          <p:cNvSpPr txBox="1"/>
          <p:nvPr/>
        </p:nvSpPr>
        <p:spPr>
          <a:xfrm>
            <a:off x="0" y="0"/>
            <a:ext cx="9900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Figure S-5</a:t>
            </a:r>
            <a:endParaRPr lang="ko-KR" altLang="en-US" sz="1400" b="1" dirty="0"/>
          </a:p>
        </p:txBody>
      </p:sp>
      <p:grpSp>
        <p:nvGrpSpPr>
          <p:cNvPr id="41" name="Figure"/>
          <p:cNvGrpSpPr/>
          <p:nvPr/>
        </p:nvGrpSpPr>
        <p:grpSpPr>
          <a:xfrm>
            <a:off x="1271214" y="1280381"/>
            <a:ext cx="9649571" cy="4297237"/>
            <a:chOff x="1271214" y="1280381"/>
            <a:chExt cx="9649571" cy="4297237"/>
          </a:xfrm>
        </p:grpSpPr>
        <p:sp>
          <p:nvSpPr>
            <p:cNvPr id="40" name="Figure backing"/>
            <p:cNvSpPr/>
            <p:nvPr/>
          </p:nvSpPr>
          <p:spPr>
            <a:xfrm>
              <a:off x="1271214" y="1280381"/>
              <a:ext cx="9649571" cy="42972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pic>
          <p:nvPicPr>
            <p:cNvPr id="42" name="day00_phase.png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16934" y="1840451"/>
              <a:ext cx="1826120" cy="1826120"/>
            </a:xfrm>
            <a:prstGeom prst="rect">
              <a:avLst/>
            </a:prstGeom>
          </p:spPr>
        </p:pic>
        <p:sp>
          <p:nvSpPr>
            <p:cNvPr id="5" name="Rectangle 4"/>
            <p:cNvSpPr/>
            <p:nvPr/>
          </p:nvSpPr>
          <p:spPr>
            <a:xfrm>
              <a:off x="1399109" y="3529532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1386263" y="3297884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316934" y="1600421"/>
              <a:ext cx="1826120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000000"/>
                  </a:solidFill>
                  <a:latin typeface="Arial"/>
                </a:rPr>
                <a:t>Day 0</a:t>
              </a:r>
            </a:p>
          </p:txBody>
        </p:sp>
        <p:pic>
          <p:nvPicPr>
            <p:cNvPr id="44" name="day08_phase.png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49937" y="1840451"/>
              <a:ext cx="1826120" cy="182612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3332112" y="3529532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319266" y="3297884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249937" y="1600421"/>
              <a:ext cx="1826120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000000"/>
                  </a:solidFill>
                  <a:latin typeface="Arial"/>
                </a:rPr>
                <a:t>Day 8</a:t>
              </a:r>
            </a:p>
          </p:txBody>
        </p:sp>
        <p:pic>
          <p:nvPicPr>
            <p:cNvPr id="46" name="day19_phase.png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182939" y="1840451"/>
              <a:ext cx="1826120" cy="1826120"/>
            </a:xfrm>
            <a:prstGeom prst="rect">
              <a:avLst/>
            </a:prstGeom>
          </p:spPr>
        </p:pic>
        <p:sp>
          <p:nvSpPr>
            <p:cNvPr id="13" name="Rectangle 12"/>
            <p:cNvSpPr/>
            <p:nvPr/>
          </p:nvSpPr>
          <p:spPr>
            <a:xfrm>
              <a:off x="5265115" y="3529532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5252269" y="3297884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5182939" y="1600421"/>
              <a:ext cx="1826120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000000"/>
                  </a:solidFill>
                  <a:latin typeface="Arial"/>
                </a:rPr>
                <a:t>Day 19</a:t>
              </a:r>
            </a:p>
          </p:txBody>
        </p:sp>
        <p:pic>
          <p:nvPicPr>
            <p:cNvPr id="48" name="day27_phase.png" descr="imag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115942" y="1840451"/>
              <a:ext cx="1826120" cy="1826120"/>
            </a:xfrm>
            <a:prstGeom prst="rect">
              <a:avLst/>
            </a:prstGeom>
          </p:spPr>
        </p:pic>
        <p:sp>
          <p:nvSpPr>
            <p:cNvPr id="17" name="Rectangle 16"/>
            <p:cNvSpPr/>
            <p:nvPr/>
          </p:nvSpPr>
          <p:spPr>
            <a:xfrm>
              <a:off x="7198118" y="3529532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185272" y="3297884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115942" y="1600421"/>
              <a:ext cx="1826120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000000"/>
                  </a:solidFill>
                  <a:latin typeface="Arial"/>
                </a:rPr>
                <a:t>Day 27</a:t>
              </a:r>
            </a:p>
          </p:txBody>
        </p:sp>
        <p:pic>
          <p:nvPicPr>
            <p:cNvPr id="50" name="day47_phase.png" descr="image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048945" y="1840451"/>
              <a:ext cx="1826120" cy="182612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>
            <a:xfrm>
              <a:off x="9131121" y="3529532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118275" y="3297884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9048945" y="1600421"/>
              <a:ext cx="1826120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000000"/>
                  </a:solidFill>
                  <a:latin typeface="Arial"/>
                </a:rPr>
                <a:t>Day 47</a:t>
              </a:r>
            </a:p>
          </p:txBody>
        </p:sp>
        <p:pic>
          <p:nvPicPr>
            <p:cNvPr id="43" name="day00_contours.png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16934" y="3705778"/>
              <a:ext cx="1826120" cy="182612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>
            <a:xfrm>
              <a:off x="1399109" y="5394859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386263" y="5163211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pic>
          <p:nvPicPr>
            <p:cNvPr id="45" name="day08_contours.png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49937" y="3705778"/>
              <a:ext cx="1826120" cy="1826120"/>
            </a:xfrm>
            <a:prstGeom prst="rect">
              <a:avLst/>
            </a:prstGeom>
          </p:spPr>
        </p:pic>
        <p:sp>
          <p:nvSpPr>
            <p:cNvPr id="28" name="Rectangle 27"/>
            <p:cNvSpPr/>
            <p:nvPr/>
          </p:nvSpPr>
          <p:spPr>
            <a:xfrm>
              <a:off x="3332112" y="5394859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3319266" y="5163211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pic>
          <p:nvPicPr>
            <p:cNvPr id="47" name="day19_contours.png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82939" y="3705778"/>
              <a:ext cx="1826120" cy="182612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>
            <a:xfrm>
              <a:off x="5265115" y="5394859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252269" y="5163211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pic>
          <p:nvPicPr>
            <p:cNvPr id="49" name="day27_contours.png" descr="image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115942" y="3705778"/>
              <a:ext cx="1826120" cy="1826120"/>
            </a:xfrm>
            <a:prstGeom prst="rect">
              <a:avLst/>
            </a:prstGeom>
          </p:spPr>
        </p:pic>
        <p:sp>
          <p:nvSpPr>
            <p:cNvPr id="34" name="Rectangle 33"/>
            <p:cNvSpPr/>
            <p:nvPr/>
          </p:nvSpPr>
          <p:spPr>
            <a:xfrm>
              <a:off x="7198118" y="5394859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185272" y="5163211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  <p:pic>
          <p:nvPicPr>
            <p:cNvPr id="51" name="day47_contours.png" descr="image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048945" y="3705778"/>
              <a:ext cx="1826120" cy="182612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>
            <a:xfrm>
              <a:off x="9131121" y="5394859"/>
              <a:ext cx="330015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9118275" y="5163211"/>
              <a:ext cx="539534" cy="213360"/>
            </a:xfrm>
            <a:prstGeom prst="rect">
              <a:avLst/>
            </a:prstGeom>
            <a:noFill/>
          </p:spPr>
          <p:txBody>
            <a:bodyPr wrap="none" lIns="0" tIns="0" rIns="0" bIns="0" anchor="b">
              <a:noAutofit/>
            </a:bodyPr>
            <a:lstStyle/>
            <a:p>
              <a:pPr algn="ctr"/>
              <a:r>
                <a:rPr sz="1400" b="1">
                  <a:solidFill>
                    <a:srgbClr val="FFFFFF"/>
                  </a:solidFill>
                  <a:latin typeface="Arial"/>
                </a:rPr>
                <a:t>20 μm</a:t>
              </a:r>
            </a:p>
          </p:txBody>
        </p:sp>
      </p:grpSp>
      <p:sp>
        <p:nvSpPr>
          <p:cNvPr id="39" name="TextBox 38"/>
          <p:cNvSpPr txBox="1"/>
          <p:nvPr/>
        </p:nvSpPr>
        <p:spPr>
          <a:xfrm>
            <a:off x="4693920" y="5989320"/>
            <a:ext cx="7315200" cy="685800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r>
              <a:rPr sz="900" b="0">
                <a:solidFill>
                  <a:srgbClr val="808080"/>
                </a:solidFill>
                <a:latin typeface="Arial"/>
              </a:rPr>
              <a:t>Panel objects: artifacts/figures/objects/FigS5/ (make_figure_objects.py).</a:t>
            </a:r>
          </a:p>
          <a:p>
            <a:pPr algn="r"/>
            <a:r>
              <a:rPr sz="900" b="0">
                <a:solidFill>
                  <a:srgbClr val="808080"/>
                </a:solidFill>
                <a:latin typeface="Arial"/>
              </a:rPr>
              <a:t>Panel image 1536 × 1536 px, upsampled 2× from the 768 × 768 px source array.</a:t>
            </a:r>
          </a:p>
          <a:p>
            <a:pPr algn="r"/>
            <a:r>
              <a:rPr sz="900" b="0">
                <a:solidFill>
                  <a:srgbClr val="808080"/>
                </a:solidFill>
                <a:latin typeface="Arial"/>
              </a:rPr>
              <a:t>Pixel pitch 0.1441 μm/px, so one panel spans 768 × 0.1441 = 110.67 μm.</a:t>
            </a:r>
          </a:p>
          <a:p>
            <a:pPr algn="r"/>
            <a:r>
              <a:rPr sz="900" b="0">
                <a:solidFill>
                  <a:srgbClr val="808080"/>
                </a:solidFill>
                <a:latin typeface="Arial"/>
              </a:rPr>
              <a:t>Scale bar 20 μm = 18.07% of the panel width.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" y="1837943"/>
            <a:ext cx="9144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Phase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0040" y="3703320"/>
            <a:ext cx="9144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EdgeSAM (r=32)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Arial"/>
              </a:rPr>
              <a:t>contours</a:t>
            </a:r>
          </a:p>
        </p:txBody>
      </p:sp>
    </p:spTree>
    <p:extLst>
      <p:ext uri="{BB962C8B-B14F-4D97-AF65-F5344CB8AC3E}">
        <p14:creationId xmlns:p14="http://schemas.microsoft.com/office/powerpoint/2010/main" val="4017498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6723</TotalTime>
  <Words>626</Words>
  <Application>Microsoft Office PowerPoint</Application>
  <PresentationFormat>Widescreen</PresentationFormat>
  <Paragraphs>143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Cambria Math</vt:lpstr>
      <vt:lpstr>Wingdings</vt:lpstr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보현</dc:creator>
  <cp:lastModifiedBy>Usama Ikram</cp:lastModifiedBy>
  <cp:revision>39</cp:revision>
  <dcterms:created xsi:type="dcterms:W3CDTF">2026-08-13T10:14:49Z</dcterms:created>
  <dcterms:modified xsi:type="dcterms:W3CDTF">2026-10-29T09:04:16Z</dcterms:modified>
</cp:coreProperties>
</file>